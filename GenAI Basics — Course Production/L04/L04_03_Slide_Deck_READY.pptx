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difference between beautiful and production-ready. Product can look good and still be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students: if it looks good, what can still be wrong? Then reveal these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middle box: model/API. Everything around it is the engineering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mug examples for every term; avoid art jargon.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time on constraints and acceptance. This is where students become more professional than prompt hobbyists.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teaching contrast.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often upload references without telling the model what to preserve.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mug as an anchor. Editing is controlled change, not just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APIs differ, but the lifecycle remains stable.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sources checked, but avoid a vendor ranking.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prevents students from trying to use image models for everything.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current and conservative.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demo repo skeleton. Students do not need to run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APIs are heavier than text APIs. This introduces production thinking.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boundaries before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browser first. If it fails, use failure as a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12-15 minutes. Require one group to present tradeoffs.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makes them create a spec, not a decorative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mirrors the QA gates in the course production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forward to video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realistic_classroom_meeting_room_scene_ov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658368"/>
            <a:ext cx="658368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Image Generation</a:t>
            </a:r>
            <a:endParaRPr lang="en-US" sz="3500" dirty="0"/>
          </a:p>
          <a:p>
            <a:pPr algn="l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 Editing APIs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530352" y="1965960"/>
            <a:ext cx="60350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0F2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beautiful pixels to controlled visual workflows.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30352" y="2788920"/>
            <a:ext cx="1234440" cy="301752"/>
          </a:xfrm>
          <a:prstGeom prst="roundRect">
            <a:avLst>
              <a:gd name="adj" fmla="val 45455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" y="2843784"/>
            <a:ext cx="1088136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private assets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865376" y="2788920"/>
            <a:ext cx="1243584" cy="301752"/>
          </a:xfrm>
          <a:prstGeom prst="roundRect">
            <a:avLst>
              <a:gd name="adj" fmla="val 45455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38528" y="2843784"/>
            <a:ext cx="109728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Workflow-first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36976" y="2788920"/>
            <a:ext cx="969264" cy="301752"/>
          </a:xfrm>
          <a:prstGeom prst="roundRect">
            <a:avLst>
              <a:gd name="adj" fmla="val 45455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10128" y="2843784"/>
            <a:ext cx="82296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API-ready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0424160" y="5376672"/>
            <a:ext cx="10972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HOOK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trap: pretty does not mean usable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78408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GenAI Basics · Lecture 04</a:t>
            </a:r>
            <a:endParaRPr lang="en-US" sz="750" dirty="0"/>
          </a:p>
        </p:txBody>
      </p:sp>
      <p:pic>
        <p:nvPicPr>
          <p:cNvPr id="6" name="Image 0" descr="/mnt/data/wide_crisp_modern_infographic_style_scene_on_a_w.png">    </p:cNvPr>
          <p:cNvPicPr>
            <a:picLocks noChangeAspect="1"/>
          </p:cNvPicPr>
          <p:nvPr/>
        </p:nvPicPr>
        <p:blipFill>
          <a:blip r:embed="rId1"/>
          <a:srcRect l="15704" r="15704" t="0" b="0"/>
          <a:stretch/>
        </p:blipFill>
        <p:spPr>
          <a:xfrm>
            <a:off x="457200" y="1051560"/>
            <a:ext cx="5349240" cy="4389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0" y="1051560"/>
            <a:ext cx="4754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generated image can fail silently: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46520" y="1600200"/>
            <a:ext cx="365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903720" y="1545336"/>
            <a:ext cx="4480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shape changed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46520" y="2286000"/>
            <a:ext cx="365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903720" y="2231136"/>
            <a:ext cx="4480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logo or label drifted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46520" y="2971800"/>
            <a:ext cx="365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903720" y="2916936"/>
            <a:ext cx="4480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image implies a false claim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46520" y="3657600"/>
            <a:ext cx="365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903720" y="3602736"/>
            <a:ext cx="4480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Rights or privacy are unclear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446520" y="4343400"/>
            <a:ext cx="365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903720" y="4288536"/>
            <a:ext cx="4480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one can reproduce the result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MENTAL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Professional image generation is a workflow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78408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GenAI Basics · Lecture 04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63624"/>
            <a:ext cx="12344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1920240"/>
            <a:ext cx="117043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0" y="1984248"/>
            <a:ext cx="4572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06040" y="14173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1563624"/>
            <a:ext cx="12344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15768" y="1920240"/>
            <a:ext cx="117043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style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69080" y="1984248"/>
            <a:ext cx="50292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617720" y="14173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563624"/>
            <a:ext cx="12344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Model/API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27448" y="1920240"/>
            <a:ext cx="117043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edit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1984248"/>
            <a:ext cx="50292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629400" y="14173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563624"/>
            <a:ext cx="12344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39128" y="1920240"/>
            <a:ext cx="117043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3-8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92440" y="1984248"/>
            <a:ext cx="59436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732520" y="14173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23960" y="1563624"/>
            <a:ext cx="12344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842248" y="1920240"/>
            <a:ext cx="117043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195560" y="1984248"/>
            <a:ext cx="4572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287000" y="14173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78440" y="1563624"/>
            <a:ext cx="12344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396728" y="1920240"/>
            <a:ext cx="117043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publish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97280" y="3749040"/>
            <a:ext cx="969264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is only one box in the system. Production quality comes from controls before generation and review after generation.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vocabulary you need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78408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GenAI Basics · Lecture 04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68680" y="1188720"/>
            <a:ext cx="443484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335024"/>
            <a:ext cx="1554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Text-to-image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0" y="1344168"/>
            <a:ext cx="2286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from words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2286000"/>
            <a:ext cx="4434840" cy="694944"/>
          </a:xfrm>
          <a:prstGeom prst="roundRect">
            <a:avLst>
              <a:gd name="adj" fmla="val 15789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432304"/>
            <a:ext cx="1554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Image-to-image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43200" y="2441448"/>
            <a:ext cx="2286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 an input image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3383280"/>
            <a:ext cx="443484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529584"/>
            <a:ext cx="1554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Inpainting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43200" y="3538728"/>
            <a:ext cx="2286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selected area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1188720"/>
            <a:ext cx="4434840" cy="694944"/>
          </a:xfrm>
          <a:prstGeom prst="roundRect">
            <a:avLst>
              <a:gd name="adj" fmla="val 15789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335024"/>
            <a:ext cx="1554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Outpainting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75320" y="1344168"/>
            <a:ext cx="2286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extend canvas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0" y="2286000"/>
            <a:ext cx="443484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432304"/>
            <a:ext cx="1554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75320" y="2441448"/>
            <a:ext cx="2286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identity/style/layout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0" y="3383280"/>
            <a:ext cx="4434840" cy="694944"/>
          </a:xfrm>
          <a:prstGeom prst="roundRect">
            <a:avLst>
              <a:gd name="adj" fmla="val 15789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3529584"/>
            <a:ext cx="1554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75320" y="3538728"/>
            <a:ext cx="2286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edits are allowed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4983480"/>
            <a:ext cx="99669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criteria decide whether the output can leave the classroom and enter a real workflow.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anatomy: a production brief, not a poem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78408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GenAI Basics · Lecture 04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3840480" cy="4389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508760"/>
            <a:ext cx="3200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instruction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20040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16:9 ecommerce hero image for a speckled ceramic mug on a warm kitchen counter.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97280" y="3429000"/>
            <a:ext cx="306324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says what to create, but not enough to control production quality.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800600" y="3429000"/>
            <a:ext cx="100584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80760" y="1115568"/>
            <a:ext cx="5257800" cy="420624"/>
          </a:xfrm>
          <a:prstGeom prst="roundRect">
            <a:avLst>
              <a:gd name="adj" fmla="val 26087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225296"/>
            <a:ext cx="1508760" cy="100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001000" y="1225296"/>
            <a:ext cx="2971800" cy="100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must appear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6080760" y="1773936"/>
            <a:ext cx="525780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883664"/>
            <a:ext cx="1508760" cy="100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001000" y="1883664"/>
            <a:ext cx="2971800" cy="100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angle, crop, framing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6080760" y="2432304"/>
            <a:ext cx="5257800" cy="420624"/>
          </a:xfrm>
          <a:prstGeom prst="roundRect">
            <a:avLst>
              <a:gd name="adj" fmla="val 26087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2542032"/>
            <a:ext cx="1508760" cy="100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001000" y="2542032"/>
            <a:ext cx="2971800" cy="100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place, light, materials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6080760" y="3090672"/>
            <a:ext cx="525780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3200400"/>
            <a:ext cx="1508760" cy="100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Style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001000" y="3200400"/>
            <a:ext cx="2971800" cy="100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photo, illustration, UI, comic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6080760" y="3749040"/>
            <a:ext cx="5257800" cy="420624"/>
          </a:xfrm>
          <a:prstGeom prst="roundRect">
            <a:avLst>
              <a:gd name="adj" fmla="val 26087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3858768"/>
            <a:ext cx="1508760" cy="100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001000" y="3858768"/>
            <a:ext cx="2971800" cy="100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each input controls</a:t>
            </a:r>
            <a:endParaRPr lang="en-US" sz="1130" dirty="0"/>
          </a:p>
        </p:txBody>
      </p:sp>
      <p:sp>
        <p:nvSpPr>
          <p:cNvPr id="26" name="Shape 24"/>
          <p:cNvSpPr/>
          <p:nvPr/>
        </p:nvSpPr>
        <p:spPr>
          <a:xfrm>
            <a:off x="6080760" y="4407408"/>
            <a:ext cx="525780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4517136"/>
            <a:ext cx="1508760" cy="100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001000" y="4517136"/>
            <a:ext cx="2971800" cy="100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must not change</a:t>
            </a:r>
            <a:endParaRPr lang="en-US" sz="1130" dirty="0"/>
          </a:p>
        </p:txBody>
      </p:sp>
      <p:sp>
        <p:nvSpPr>
          <p:cNvPr id="29" name="Shape 27"/>
          <p:cNvSpPr/>
          <p:nvPr/>
        </p:nvSpPr>
        <p:spPr>
          <a:xfrm>
            <a:off x="6080760" y="5065776"/>
            <a:ext cx="5257800" cy="420624"/>
          </a:xfrm>
          <a:prstGeom prst="roundRect">
            <a:avLst>
              <a:gd name="adj" fmla="val 26087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5175504"/>
            <a:ext cx="1508760" cy="100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001000" y="5175504"/>
            <a:ext cx="2971800" cy="100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judge pass/fail</a:t>
            </a:r>
            <a:endParaRPr lang="en-US" sz="1130" dirty="0"/>
          </a:p>
        </p:txBody>
      </p:sp>
      <p:sp>
        <p:nvSpPr>
          <p:cNvPr id="32" name="Text 30"/>
          <p:cNvSpPr/>
          <p:nvPr/>
        </p:nvSpPr>
        <p:spPr>
          <a:xfrm>
            <a:off x="6355080" y="5806440"/>
            <a:ext cx="46634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most important line is often: what must not change.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/ AFTER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Weak prompt vs controlled workflow prompt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78408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GenAI Basics · Lecture 04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4892040" cy="3977640"/>
          </a:xfrm>
          <a:prstGeom prst="roundRect">
            <a:avLst>
              <a:gd name="adj" fmla="val 2759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17320"/>
            <a:ext cx="914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42062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“Make a beautiful ad image for this mug.”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68680" y="2971800"/>
            <a:ext cx="40690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Likely failure: random background, changed product, no review criteria, no metadata.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92240" y="1188720"/>
            <a:ext cx="5074920" cy="3977640"/>
          </a:xfrm>
          <a:prstGeom prst="roundRect">
            <a:avLst>
              <a:gd name="adj" fmla="val 2759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417320"/>
            <a:ext cx="12801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720840" y="1847088"/>
            <a:ext cx="434340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product unchanged. Edit only background. 16:9. No text, no people. Return 3 variants. Acceptance: geometry unchanged, natural light, review before publish.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720840" y="3566160"/>
            <a:ext cx="42062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prompt can be reviewed, debugged, and repeated as a workflow.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 images: decide what each one controls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78408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GenAI Basics · Lecture 04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2121408" cy="329184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1874520"/>
            <a:ext cx="1664208" cy="914400"/>
          </a:xfrm>
          <a:prstGeom prst="rect">
            <a:avLst/>
          </a:prstGeom>
          <a:solidFill>
            <a:srgbClr val="DBEAFE"/>
          </a:solidFill>
          <a:ln w="7620">
            <a:solidFill>
              <a:srgbClr val="DBEA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971800"/>
            <a:ext cx="16642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3364992"/>
            <a:ext cx="1664208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product, person, object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0" y="1417320"/>
            <a:ext cx="2121408" cy="329184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86200" y="1874520"/>
            <a:ext cx="1664208" cy="914400"/>
          </a:xfrm>
          <a:prstGeom prst="rect">
            <a:avLst/>
          </a:prstGeom>
          <a:solidFill>
            <a:srgbClr val="FCE7F3"/>
          </a:solidFill>
          <a:ln w="7620">
            <a:solidFill>
              <a:srgbClr val="FCE7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200" y="2971800"/>
            <a:ext cx="16642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Style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86200" y="3364992"/>
            <a:ext cx="1664208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lighting, palette, mood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0" y="1417320"/>
            <a:ext cx="2121408" cy="329184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1874520"/>
            <a:ext cx="1664208" cy="914400"/>
          </a:xfrm>
          <a:prstGeom prst="rect">
            <a:avLst/>
          </a:prstGeom>
          <a:solidFill>
            <a:srgbClr val="FEF3C7"/>
          </a:solidFill>
          <a:ln w="7620">
            <a:solidFill>
              <a:srgbClr val="FEF3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2971800"/>
            <a:ext cx="16642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29400" y="3364992"/>
            <a:ext cx="1664208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pose, camera, composition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144000" y="1417320"/>
            <a:ext cx="2121408" cy="329184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72600" y="1874520"/>
            <a:ext cx="1664208" cy="914400"/>
          </a:xfrm>
          <a:prstGeom prst="rect">
            <a:avLst/>
          </a:prstGeom>
          <a:solidFill>
            <a:srgbClr val="DCFCE7"/>
          </a:solidFill>
          <a:ln w="7620">
            <a:solidFill>
              <a:srgbClr val="DCFC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72600" y="2971800"/>
            <a:ext cx="16642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72600" y="3364992"/>
            <a:ext cx="1664208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elements must appear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97280" y="5303520"/>
            <a:ext cx="98755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reference image is not “extra inspiration.” It is a control signal. Say what it controls.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Editing modes: inpaint, outpaint, variation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78408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GenAI Basics · Lecture 04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22960" y="1280160"/>
            <a:ext cx="2103120" cy="32004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508760"/>
            <a:ext cx="16459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17320" y="2240280"/>
            <a:ext cx="868680" cy="1143000"/>
          </a:xfrm>
          <a:prstGeom prst="ellipse">
            <a:avLst/>
          </a:prstGeom>
          <a:solidFill>
            <a:srgbClr val="D9B28C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63240" y="2834640"/>
            <a:ext cx="73152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931920" y="1280160"/>
            <a:ext cx="2103120" cy="32004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1508760"/>
            <a:ext cx="16459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Inpaint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26280" y="2240280"/>
            <a:ext cx="868680" cy="1143000"/>
          </a:xfrm>
          <a:prstGeom prst="ellipse">
            <a:avLst/>
          </a:prstGeom>
          <a:solidFill>
            <a:srgbClr val="D9B28C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60520" y="1920240"/>
            <a:ext cx="1645920" cy="1920240"/>
          </a:xfrm>
          <a:prstGeom prst="rect">
            <a:avLst/>
          </a:prstGeom>
          <a:solidFill>
            <a:srgbClr val="BAE6FD">
              <a:alpha val="6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2834640"/>
            <a:ext cx="73152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040880" y="1280160"/>
            <a:ext cx="2103120" cy="3200400"/>
          </a:xfrm>
          <a:prstGeom prst="rect">
            <a:avLst/>
          </a:prstGeom>
          <a:solidFill>
            <a:srgbClr val="FFF7ED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1508760"/>
            <a:ext cx="16459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Outpaint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635240" y="2240280"/>
            <a:ext cx="868680" cy="1143000"/>
          </a:xfrm>
          <a:prstGeom prst="ellipse">
            <a:avLst/>
          </a:prstGeom>
          <a:solidFill>
            <a:srgbClr val="D9B28C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20840" y="1005840"/>
            <a:ext cx="2743200" cy="3703320"/>
          </a:xfrm>
          <a:prstGeom prst="rect">
            <a:avLst/>
          </a:prstGeom>
          <a:solidFill>
            <a:srgbClr val="FFF7ED">
              <a:alpha val="3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81160" y="2834640"/>
            <a:ext cx="73152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149840" y="1280160"/>
            <a:ext cx="1508760" cy="3200400"/>
          </a:xfrm>
          <a:prstGeom prst="rect">
            <a:avLst/>
          </a:prstGeom>
          <a:solidFill>
            <a:srgbClr val="F0FDF4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0" y="1508760"/>
            <a:ext cx="1325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561320" y="1920240"/>
            <a:ext cx="594360" cy="621792"/>
          </a:xfrm>
          <a:prstGeom prst="ellipse">
            <a:avLst/>
          </a:prstGeom>
          <a:solidFill>
            <a:srgbClr val="C8A27C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61320" y="2788920"/>
            <a:ext cx="594360" cy="621792"/>
          </a:xfrm>
          <a:prstGeom prst="ellipse">
            <a:avLst/>
          </a:prstGeom>
          <a:solidFill>
            <a:srgbClr val="B98B61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61320" y="3657600"/>
            <a:ext cx="594360" cy="621792"/>
          </a:xfrm>
          <a:prstGeom prst="ellipse">
            <a:avLst/>
          </a:prstGeom>
          <a:solidFill>
            <a:srgbClr val="E1BC91"/>
          </a:solidFill>
          <a:ln w="12700">
            <a:solidFill>
              <a:srgbClr val="8B5A2B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FLOW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lifecycle: the boring parts make it useful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78408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GenAI Basics · Lecture 04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1481328" cy="1051560"/>
          </a:xfrm>
          <a:prstGeom prst="roundRect">
            <a:avLst>
              <a:gd name="adj" fmla="val 10435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08760"/>
            <a:ext cx="25603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69848" y="1481328"/>
            <a:ext cx="9601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assets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167128" y="1847088"/>
            <a:ext cx="36576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60320" y="1325880"/>
            <a:ext cx="1481328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508760"/>
            <a:ext cx="25603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44368" y="1481328"/>
            <a:ext cx="9601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request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041648" y="1847088"/>
            <a:ext cx="36576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434840" y="1325880"/>
            <a:ext cx="1481328" cy="1051560"/>
          </a:xfrm>
          <a:prstGeom prst="roundRect">
            <a:avLst>
              <a:gd name="adj" fmla="val 10435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1508760"/>
            <a:ext cx="25603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18888" y="1481328"/>
            <a:ext cx="9601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endpoint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16168" y="1847088"/>
            <a:ext cx="36576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309360" y="1325880"/>
            <a:ext cx="1481328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508760"/>
            <a:ext cx="25603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93408" y="1481328"/>
            <a:ext cx="9601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 job/result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90688" y="1847088"/>
            <a:ext cx="36576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183880" y="1325880"/>
            <a:ext cx="1481328" cy="1051560"/>
          </a:xfrm>
          <a:prstGeom prst="roundRect">
            <a:avLst>
              <a:gd name="adj" fmla="val 10435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75320" y="1508760"/>
            <a:ext cx="25603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67928" y="1481328"/>
            <a:ext cx="9601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output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665208" y="1847088"/>
            <a:ext cx="36576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058400" y="1325880"/>
            <a:ext cx="1481328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49840" y="1508760"/>
            <a:ext cx="25603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442448" y="1481328"/>
            <a:ext cx="9601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+ publish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1097280" y="3337560"/>
            <a:ext cx="9966960" cy="1417320"/>
          </a:xfrm>
          <a:prstGeom prst="roundRect">
            <a:avLst>
              <a:gd name="adj" fmla="val 774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63040" y="3749040"/>
            <a:ext cx="9144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metadata: provider, model, prompt, input asset IDs, output file, timestamp, review status, risk notes.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LANDSCAPE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Provider examples: compare capabilities, not hype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78408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GenAI Basics · Lecture 04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3246120" cy="2651760"/>
          </a:xfrm>
          <a:prstGeom prst="roundRect">
            <a:avLst>
              <a:gd name="adj" fmla="val 4138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737360"/>
            <a:ext cx="2788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 Images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2331720"/>
            <a:ext cx="26060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generation + edits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Images / Responses API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0" y="1417320"/>
            <a:ext cx="3246120" cy="2651760"/>
          </a:xfrm>
          <a:prstGeom prst="roundRect">
            <a:avLst>
              <a:gd name="adj" fmla="val 4138"/>
            </a:avLst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737360"/>
            <a:ext cx="2788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/ Nano Banana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92040" y="2331720"/>
            <a:ext cx="26060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conversational image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generation + editing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321040" y="1417320"/>
            <a:ext cx="3246120" cy="2651760"/>
          </a:xfrm>
          <a:prstGeom prst="roundRect">
            <a:avLst>
              <a:gd name="adj" fmla="val 4138"/>
            </a:avLst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49640" y="1737360"/>
            <a:ext cx="2788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Adobe Firefly Services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41080" y="2331720"/>
            <a:ext cx="26060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creative-suite and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media APIs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4983480"/>
            <a:ext cx="99669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that survives model churn: what input, what edit control, what output, what rights, what review?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Selection matrix for real work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78408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GenAI Basics · Lecture 04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22960" y="1234440"/>
            <a:ext cx="2926080" cy="685800"/>
          </a:xfrm>
          <a:prstGeom prst="rect">
            <a:avLst/>
          </a:prstGeom>
          <a:solidFill>
            <a:srgbClr val="0B1325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49040" y="1234440"/>
            <a:ext cx="7589520" cy="685800"/>
          </a:xfrm>
          <a:prstGeom prst="rect">
            <a:avLst/>
          </a:prstGeom>
          <a:solidFill>
            <a:srgbClr val="0B1325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380744"/>
            <a:ext cx="2651760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86200" y="1380744"/>
            <a:ext cx="7315200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for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1920240"/>
            <a:ext cx="292608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0" y="1920240"/>
            <a:ext cx="758952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066544"/>
            <a:ext cx="2651760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concepts</a:t>
            </a:r>
            <a:endParaRPr lang="en-US" sz="1160" dirty="0"/>
          </a:p>
        </p:txBody>
      </p:sp>
      <p:sp>
        <p:nvSpPr>
          <p:cNvPr id="13" name="Text 11"/>
          <p:cNvSpPr/>
          <p:nvPr/>
        </p:nvSpPr>
        <p:spPr>
          <a:xfrm>
            <a:off x="3886200" y="2066544"/>
            <a:ext cx="7315200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speed, variants, low friction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822960" y="2606040"/>
            <a:ext cx="2926080" cy="6858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2606040"/>
            <a:ext cx="7589520" cy="6858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752344"/>
            <a:ext cx="2651760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edits</a:t>
            </a:r>
            <a:endParaRPr lang="en-US" sz="1160" dirty="0"/>
          </a:p>
        </p:txBody>
      </p:sp>
      <p:sp>
        <p:nvSpPr>
          <p:cNvPr id="17" name="Text 15"/>
          <p:cNvSpPr/>
          <p:nvPr/>
        </p:nvSpPr>
        <p:spPr>
          <a:xfrm>
            <a:off x="3886200" y="2752344"/>
            <a:ext cx="7315200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fidelity, masking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822960" y="3291840"/>
            <a:ext cx="292608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0" y="3291840"/>
            <a:ext cx="758952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438144"/>
            <a:ext cx="2651760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Campaign assets</a:t>
            </a:r>
            <a:endParaRPr lang="en-US" sz="1160" dirty="0"/>
          </a:p>
        </p:txBody>
      </p:sp>
      <p:sp>
        <p:nvSpPr>
          <p:cNvPr id="21" name="Text 19"/>
          <p:cNvSpPr/>
          <p:nvPr/>
        </p:nvSpPr>
        <p:spPr>
          <a:xfrm>
            <a:off x="3886200" y="3438144"/>
            <a:ext cx="7315200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controls, approval flow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822960" y="3977640"/>
            <a:ext cx="2926080" cy="6858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0" y="3977640"/>
            <a:ext cx="7589520" cy="6858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123944"/>
            <a:ext cx="2651760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use</a:t>
            </a:r>
            <a:endParaRPr lang="en-US" sz="1160" dirty="0"/>
          </a:p>
        </p:txBody>
      </p:sp>
      <p:sp>
        <p:nvSpPr>
          <p:cNvPr id="25" name="Text 23"/>
          <p:cNvSpPr/>
          <p:nvPr/>
        </p:nvSpPr>
        <p:spPr>
          <a:xfrm>
            <a:off x="3886200" y="4123944"/>
            <a:ext cx="7315200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privacy, rights, audit, cost</a:t>
            </a:r>
            <a:endParaRPr lang="en-US" sz="1160" dirty="0"/>
          </a:p>
        </p:txBody>
      </p:sp>
      <p:sp>
        <p:nvSpPr>
          <p:cNvPr id="26" name="Shape 24"/>
          <p:cNvSpPr/>
          <p:nvPr/>
        </p:nvSpPr>
        <p:spPr>
          <a:xfrm>
            <a:off x="822960" y="4663440"/>
            <a:ext cx="292608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49040" y="4663440"/>
            <a:ext cx="758952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4809744"/>
            <a:ext cx="2651760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Text-heavy graphics</a:t>
            </a:r>
            <a:endParaRPr lang="en-US" sz="1160" dirty="0"/>
          </a:p>
        </p:txBody>
      </p:sp>
      <p:sp>
        <p:nvSpPr>
          <p:cNvPr id="29" name="Text 27"/>
          <p:cNvSpPr/>
          <p:nvPr/>
        </p:nvSpPr>
        <p:spPr>
          <a:xfrm>
            <a:off x="3886200" y="4809744"/>
            <a:ext cx="7315200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usually deterministic design tools</a:t>
            </a:r>
            <a:endParaRPr lang="en-US" sz="1160" dirty="0"/>
          </a:p>
        </p:txBody>
      </p:sp>
      <p:sp>
        <p:nvSpPr>
          <p:cNvPr id="30" name="Text 28"/>
          <p:cNvSpPr/>
          <p:nvPr/>
        </p:nvSpPr>
        <p:spPr>
          <a:xfrm>
            <a:off x="1097280" y="5623560"/>
            <a:ext cx="98755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exact layout or text matters, generate the concept then rebuild the final asset in editable tools.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EXAMPLE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OpenAI image API shape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78408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GenAI Basics · Lecture 04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22960" y="1234440"/>
            <a:ext cx="3017520" cy="3474720"/>
          </a:xfrm>
          <a:prstGeom prst="roundRect">
            <a:avLst>
              <a:gd name="adj" fmla="val 3636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600200"/>
            <a:ext cx="2560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Images API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143000" y="2148840"/>
            <a:ext cx="237744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images from text.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existing images from source image(s) and prompt.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current docs for exact model, endpoint and access requirements.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26280" y="1234440"/>
            <a:ext cx="3017520" cy="3474720"/>
          </a:xfrm>
          <a:prstGeom prst="roundRect">
            <a:avLst>
              <a:gd name="adj" fmla="val 3636"/>
            </a:avLst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600200"/>
            <a:ext cx="2560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Responses API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846320" y="2148840"/>
            <a:ext cx="237744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generation can be used as a tool inside a broader response workflow.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when text reasoning, images and tools must work together.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0" y="1234440"/>
            <a:ext cx="3017520" cy="3474720"/>
          </a:xfrm>
          <a:prstGeom prst="roundRect">
            <a:avLst>
              <a:gd name="adj" fmla="val 3636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1600200"/>
            <a:ext cx="2560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note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549640" y="2240280"/>
            <a:ext cx="233172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Organization access, supported models, file limits and pricing change.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official docs on delivery day.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shape: generate, save, record metadata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78408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GenAI Basics · Lecture 04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77240" y="1143000"/>
            <a:ext cx="10698480" cy="4343400"/>
          </a:xfrm>
          <a:prstGeom prst="roundRect">
            <a:avLst>
              <a:gd name="adj" fmla="val 2526"/>
            </a:avLst>
          </a:prstGeom>
          <a:solidFill>
            <a:srgbClr val="0B132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691640"/>
            <a:ext cx="1001268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prompt = build_prompt(spec)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request = { model, prompt, size, references, mask }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result = image_api.generate_or_edit(request)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file = save_image(result.bytes)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write_metadata(prompt, model, inputs, file, review="draft")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4892040"/>
            <a:ext cx="10698480" cy="594360"/>
          </a:xfrm>
          <a:prstGeom prst="rect">
            <a:avLst/>
          </a:prstGeom>
          <a:solidFill>
            <a:srgbClr val="1E293B"/>
          </a:solidFill>
          <a:ln w="762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5074920"/>
            <a:ext cx="10058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important code is not only the API call. It is storage, metadata, review status and failure handling.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Cost and reliability controls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78408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GenAI Basics · Lecture 04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14400" y="1143000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Variant limit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880360" y="1289304"/>
            <a:ext cx="59436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1143000"/>
            <a:ext cx="72237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generate 20 images when 3 are enough.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1929384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Queue/poll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880360" y="2075688"/>
            <a:ext cx="59436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929384"/>
            <a:ext cx="72237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async jobs where provider requires it.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715768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carefully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880360" y="2862072"/>
            <a:ext cx="59436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2715768"/>
            <a:ext cx="72237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paying twice for preventable failures.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3502152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 outputs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880360" y="3648456"/>
            <a:ext cx="59436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3502152"/>
            <a:ext cx="72237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approved assets and prompts.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288536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880360" y="4434840"/>
            <a:ext cx="59436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4288536"/>
            <a:ext cx="72237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publish directly from model output.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Safety, rights and provenance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78408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GenAI Basics · Lecture 04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4572000" cy="1234440"/>
          </a:xfrm>
          <a:prstGeom prst="roundRect">
            <a:avLst>
              <a:gd name="adj" fmla="val 8889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636776"/>
            <a:ext cx="4069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43000" y="2020824"/>
            <a:ext cx="3931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faces, private places, unreleased products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92240" y="1417320"/>
            <a:ext cx="4572000" cy="1234440"/>
          </a:xfrm>
          <a:prstGeom prst="roundRect">
            <a:avLst>
              <a:gd name="adj" fmla="val 8889"/>
            </a:avLst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636776"/>
            <a:ext cx="4069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720840" y="2020824"/>
            <a:ext cx="3931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brands, characters, protected styles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4400" y="3337560"/>
            <a:ext cx="4572000" cy="1234440"/>
          </a:xfrm>
          <a:prstGeom prst="roundRect">
            <a:avLst>
              <a:gd name="adj" fmla="val 8889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3557016"/>
            <a:ext cx="4069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Misleading content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43000" y="3941064"/>
            <a:ext cx="3931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fake evidence, false scenes, implied claims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92240" y="3337560"/>
            <a:ext cx="4572000" cy="1234440"/>
          </a:xfrm>
          <a:prstGeom prst="roundRect">
            <a:avLst>
              <a:gd name="adj" fmla="val 8889"/>
            </a:avLst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3557016"/>
            <a:ext cx="4069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Provenance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720840" y="3941064"/>
            <a:ext cx="3931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prompt, inputs, model, date, reviewer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97280" y="5532120"/>
            <a:ext cx="99669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for students: use safe fictional assets unless the environment and rights are clear.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demo: weak -&gt; structured -&gt; controlled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78408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GenAI Basics · Lecture 04</a:t>
            </a:r>
            <a:endParaRPr lang="en-US" sz="750" dirty="0"/>
          </a:p>
        </p:txBody>
      </p:sp>
      <p:pic>
        <p:nvPicPr>
          <p:cNvPr id="6" name="Image 0" descr="/mnt/data/a_wide_cinematic_realistic_office_studio_workspa.png">    </p:cNvPr>
          <p:cNvPicPr>
            <a:picLocks noChangeAspect="1"/>
          </p:cNvPicPr>
          <p:nvPr/>
        </p:nvPicPr>
        <p:blipFill>
          <a:blip r:embed="rId1"/>
          <a:srcRect l="18009" r="18009" t="0" b="0"/>
          <a:stretch/>
        </p:blipFill>
        <p:spPr>
          <a:xfrm>
            <a:off x="594360" y="1078992"/>
            <a:ext cx="493776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26480" y="1234440"/>
            <a:ext cx="5120640" cy="841248"/>
          </a:xfrm>
          <a:prstGeom prst="roundRect">
            <a:avLst>
              <a:gd name="adj" fmla="val 13043"/>
            </a:avLst>
          </a:prstGeom>
          <a:solidFill>
            <a:srgbClr val="FEF2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0" y="1399032"/>
            <a:ext cx="1325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Weak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26680" y="1389888"/>
            <a:ext cx="32461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“Make a beautiful ad image.”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6126480" y="2468880"/>
            <a:ext cx="5120640" cy="841248"/>
          </a:xfrm>
          <a:prstGeom prst="roundRect">
            <a:avLst>
              <a:gd name="adj" fmla="val 13043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0" y="2633472"/>
            <a:ext cx="1325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Structured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26680" y="2624328"/>
            <a:ext cx="32461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subject, scene, lighting, size, negatives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6126480" y="3703320"/>
            <a:ext cx="5120640" cy="841248"/>
          </a:xfrm>
          <a:prstGeom prst="roundRect">
            <a:avLst>
              <a:gd name="adj" fmla="val 13043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3867912"/>
            <a:ext cx="1325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Controlled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726680" y="3858768"/>
            <a:ext cx="32461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reference, mask, constraints, acceptance</a:t>
            </a:r>
            <a:endParaRPr lang="en-US" sz="1320" dirty="0"/>
          </a:p>
        </p:txBody>
      </p:sp>
      <p:sp>
        <p:nvSpPr>
          <p:cNvPr id="16" name="Text 13"/>
          <p:cNvSpPr/>
          <p:nvPr/>
        </p:nvSpPr>
        <p:spPr>
          <a:xfrm>
            <a:off x="6355080" y="5303520"/>
            <a:ext cx="4572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chase a perfect output. Teach how control changes the result.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Workshop: Image Generation Workflow Spec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78408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GenAI Basics · Lecture 04</a:t>
            </a:r>
            <a:endParaRPr lang="en-US" sz="750" dirty="0"/>
          </a:p>
        </p:txBody>
      </p:sp>
      <p:pic>
        <p:nvPicPr>
          <p:cNvPr id="6" name="Image 0" descr="/mnt/data/wide_crisp_modern_infographic_style_scene_on_a_w.png">    </p:cNvPr>
          <p:cNvPicPr>
            <a:picLocks noChangeAspect="1"/>
          </p:cNvPicPr>
          <p:nvPr/>
        </p:nvPicPr>
        <p:blipFill>
          <a:blip r:embed="rId1"/>
          <a:srcRect l="17321" r="17321" t="0" b="0"/>
          <a:stretch/>
        </p:blipFill>
        <p:spPr>
          <a:xfrm>
            <a:off x="502920" y="1188720"/>
            <a:ext cx="4937760" cy="4251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0" y="114300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53328" y="1298448"/>
            <a:ext cx="2194560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 + channel</a:t>
            </a:r>
            <a:endParaRPr lang="en-US" sz="1060" dirty="0"/>
          </a:p>
        </p:txBody>
      </p:sp>
      <p:sp>
        <p:nvSpPr>
          <p:cNvPr id="9" name="Shape 6"/>
          <p:cNvSpPr/>
          <p:nvPr/>
        </p:nvSpPr>
        <p:spPr>
          <a:xfrm>
            <a:off x="8732520" y="114300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42248" y="1298448"/>
            <a:ext cx="2194560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assets</a:t>
            </a:r>
            <a:endParaRPr lang="en-US" sz="1060" dirty="0"/>
          </a:p>
        </p:txBody>
      </p:sp>
      <p:sp>
        <p:nvSpPr>
          <p:cNvPr id="11" name="Shape 8"/>
          <p:cNvSpPr/>
          <p:nvPr/>
        </p:nvSpPr>
        <p:spPr>
          <a:xfrm>
            <a:off x="5943600" y="1947672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53328" y="2103120"/>
            <a:ext cx="2194560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strategy</a:t>
            </a:r>
            <a:endParaRPr lang="en-US" sz="1060" dirty="0"/>
          </a:p>
        </p:txBody>
      </p:sp>
      <p:sp>
        <p:nvSpPr>
          <p:cNvPr id="13" name="Shape 10"/>
          <p:cNvSpPr/>
          <p:nvPr/>
        </p:nvSpPr>
        <p:spPr>
          <a:xfrm>
            <a:off x="8732520" y="1947672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842248" y="2103120"/>
            <a:ext cx="2194560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+ controls</a:t>
            </a:r>
            <a:endParaRPr lang="en-US" sz="1060" dirty="0"/>
          </a:p>
        </p:txBody>
      </p:sp>
      <p:sp>
        <p:nvSpPr>
          <p:cNvPr id="15" name="Shape 12"/>
          <p:cNvSpPr/>
          <p:nvPr/>
        </p:nvSpPr>
        <p:spPr>
          <a:xfrm>
            <a:off x="5943600" y="2752344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53328" y="2907792"/>
            <a:ext cx="2194560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criteria</a:t>
            </a:r>
            <a:endParaRPr lang="en-US" sz="1060" dirty="0"/>
          </a:p>
        </p:txBody>
      </p:sp>
      <p:sp>
        <p:nvSpPr>
          <p:cNvPr id="17" name="Shape 14"/>
          <p:cNvSpPr/>
          <p:nvPr/>
        </p:nvSpPr>
        <p:spPr>
          <a:xfrm>
            <a:off x="8732520" y="2752344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42248" y="2907792"/>
            <a:ext cx="2194560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+ review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5943600" y="3557016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712464"/>
            <a:ext cx="2194560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 to store</a:t>
            </a:r>
            <a:endParaRPr lang="en-US" sz="1060" dirty="0"/>
          </a:p>
        </p:txBody>
      </p:sp>
      <p:sp>
        <p:nvSpPr>
          <p:cNvPr id="21" name="Shape 18"/>
          <p:cNvSpPr/>
          <p:nvPr/>
        </p:nvSpPr>
        <p:spPr>
          <a:xfrm>
            <a:off x="8732520" y="3557016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842248" y="3712464"/>
            <a:ext cx="2194560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automate</a:t>
            </a:r>
            <a:endParaRPr lang="en-US" sz="1060" dirty="0"/>
          </a:p>
        </p:txBody>
      </p:sp>
      <p:sp>
        <p:nvSpPr>
          <p:cNvPr id="23" name="Text 20"/>
          <p:cNvSpPr/>
          <p:nvPr/>
        </p:nvSpPr>
        <p:spPr>
          <a:xfrm>
            <a:off x="6080760" y="5212080"/>
            <a:ext cx="50749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artifact is reusable: it can feed later API, agent and capstone modules.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HOMEWORK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students should submit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78408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GenAI Basics · Lecture 04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097280" y="1280160"/>
            <a:ext cx="457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91640" y="1243584"/>
            <a:ext cx="283464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Spec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846320" y="1280160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template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2240280"/>
            <a:ext cx="457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91640" y="2203704"/>
            <a:ext cx="283464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iteration log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846320" y="2240280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-&gt; improved -&gt; controlled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3200400"/>
            <a:ext cx="457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91640" y="3163824"/>
            <a:ext cx="283464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checklist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46320" y="3200400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passed, what failed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4160520"/>
            <a:ext cx="457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91640" y="4123944"/>
            <a:ext cx="283464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Boundary statement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46320" y="4160520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must not be automated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51560" y="5349240"/>
            <a:ext cx="10104120" cy="502920"/>
          </a:xfrm>
          <a:prstGeom prst="roundRect">
            <a:avLst>
              <a:gd name="adj" fmla="val 21818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5504688"/>
            <a:ext cx="96012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3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fictional or safe assets. No real private photos, copyrighted characters, or uncontrolled brand work.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Quality checklist before publishing an AI image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78408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GenAI Basics · Lecture 04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234440" y="1143000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1097280"/>
            <a:ext cx="88696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unchanged where required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34440" y="1856232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91640" y="1810512"/>
            <a:ext cx="88696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unwanted text, logos, hands or extra products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2569464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2523744"/>
            <a:ext cx="88696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Lighting and shadows plausible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34440" y="3282696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3236976"/>
            <a:ext cx="88696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Rights and privacy clear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34440" y="3995928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3950208"/>
            <a:ext cx="88696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+ model + input IDs stored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34440" y="4709160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91640" y="4663440"/>
            <a:ext cx="88696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approval recorded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Takeaways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78408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GenAI Basics · Lecture 04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005840" y="1143000"/>
            <a:ext cx="457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115568"/>
            <a:ext cx="8869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generation is controlled workflow design, not prompt roulette.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5840" y="1965960"/>
            <a:ext cx="457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1938528"/>
            <a:ext cx="8869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 and masks are control tools.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05840" y="2788920"/>
            <a:ext cx="457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00200" y="2761488"/>
            <a:ext cx="8869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criteria matter more than pretty outputs.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05840" y="3611880"/>
            <a:ext cx="457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00200" y="3584448"/>
            <a:ext cx="8869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 need storage, metadata, review and cost controls.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05840" y="4434840"/>
            <a:ext cx="457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0200" y="4407408"/>
            <a:ext cx="8869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video generation models and APIs.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04 — Image Generation and Editing APIs</dc:title>
  <dc:subject>GenAI Basics Lecture 04</dc:subject>
  <dc:creator>OpenAI</dc:creator>
  <cp:lastModifiedBy>OpenAI</cp:lastModifiedBy>
  <cp:revision>1</cp:revision>
  <dcterms:created xsi:type="dcterms:W3CDTF">2026-09-08T09:03:30Z</dcterms:created>
  <dcterms:modified xsi:type="dcterms:W3CDTF">2026-09-08T09:03:30Z</dcterms:modified>
</cp:coreProperties>
</file>