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2.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3.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4.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5.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6.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7.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8.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9.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10.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11.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12.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13.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14.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15.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16.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17.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18.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19.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20.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21.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slide 22. Use the instructor script for full narration. Keep the frame practical: artifact, tests,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6048"/>
                </a:solidFill>
              </a:rPr>
              <a:t>GenAI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Ecosystem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Artifacts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2395728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A6F77"/>
                </a:solidFill>
              </a:rPr>
              <a:t>From chat answers to reusable work products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" y="6153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F77"/>
                </a:solidFill>
              </a:rPr>
              <a:t>Module 09 · 90–120 minutes</a:t>
            </a:r>
            <a:endParaRPr lang="en-US" sz="900" dirty="0"/>
          </a:p>
        </p:txBody>
      </p:sp>
      <p:pic>
        <p:nvPicPr>
          <p:cNvPr id="7" name="Image 0" descr="/mnt/data/a_clean_modern_stylized_3d_rendered_illustration.png">    </p:cNvPr>
          <p:cNvPicPr>
            <a:picLocks noChangeAspect="1"/>
          </p:cNvPicPr>
          <p:nvPr/>
        </p:nvPicPr>
        <p:blipFill>
          <a:blip r:embed="rId1"/>
          <a:srcRect l="19022" r="19022" t="0" b="0"/>
          <a:stretch/>
        </p:blipFill>
        <p:spPr>
          <a:xfrm>
            <a:off x="5623560" y="502920"/>
            <a:ext cx="5989320" cy="5440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13248" y="502920"/>
            <a:ext cx="45720" cy="544068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Claude in this course?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The unit of work shifts from an answer to something you can inspect and reuse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2</a:t>
            </a:r>
            <a:endParaRPr lang="en-US" sz="750" dirty="0"/>
          </a:p>
        </p:txBody>
      </p:sp>
      <p:pic>
        <p:nvPicPr>
          <p:cNvPr id="7" name="Image 0" descr="/mnt/data/a_wide_realistic_modern_office_meeting_room_scene.png">    </p:cNvPr>
          <p:cNvPicPr>
            <a:picLocks noChangeAspect="1"/>
          </p:cNvPicPr>
          <p:nvPr/>
        </p:nvPicPr>
        <p:blipFill>
          <a:blip r:embed="rId1"/>
          <a:srcRect l="19787" r="19787" t="0" b="0"/>
          <a:stretch/>
        </p:blipFill>
        <p:spPr>
          <a:xfrm>
            <a:off x="502920" y="1234440"/>
            <a:ext cx="46634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3258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  <a:effectLst>
            <a:outerShdw sx="100000" sy="100000" kx="0" ky="0" algn="bl" rotWithShape="0" blurRad="12700" dist="50800" dir="2700000">
              <a:srgbClr val="E6CBB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86984" y="1408176"/>
            <a:ext cx="2130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Chat 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fast, useful, but easy to lose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49640" y="13258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1EB"/>
          </a:solidFill>
          <a:ln w="13970">
            <a:solidFill>
              <a:srgbClr val="EDB7A7"/>
            </a:solidFill>
            <a:prstDash val="solid"/>
          </a:ln>
          <a:effectLst>
            <a:outerShdw sx="100000" sy="100000" kx="0" ky="0" algn="bl" rotWithShape="0" blurRad="12700" dist="50800" dir="2700000">
              <a:srgbClr val="E6CBBF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50224" y="1408176"/>
            <a:ext cx="2404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Artifact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visible, editable, testable, reusable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7012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23560" y="2770632"/>
            <a:ext cx="5257800" cy="0"/>
          </a:xfrm>
          <a:prstGeom prst="line">
            <a:avLst/>
          </a:prstGeom>
          <a:noFill/>
          <a:ln w="15240">
            <a:solidFill>
              <a:srgbClr val="E8D6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999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6048"/>
                </a:solidFill>
              </a:rPr>
              <a:t>Professional question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77840" y="34015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5282D"/>
                </a:solidFill>
              </a:rPr>
              <a:t>Does the artifact solve the task when a real person uses it?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57784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F77"/>
                </a:solidFill>
              </a:rPr>
              <a:t>Not: “does it look impressive for five seconds?”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By the end, students can turn Claude output into a controlled work product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344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Choose the right Claude surface for a task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8928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Design an Artifact request with constraints and tests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45973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4780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Run build → inspect → revise instead of accepting first output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0266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Explain tools, files, citations, context, caching and Skills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59359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Spot sharing, privacy and dependency risks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1133856"/>
            <a:ext cx="3108960" cy="37490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  <a:effectLst>
            <a:outerShdw sx="100000" sy="100000" kx="0" ky="0" algn="bl" rotWithShape="0" blurRad="12700" dist="50800" dir="2700000">
              <a:srgbClr val="E6CBBF">
                <a:alpha val="1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26096" y="1481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82D"/>
                </a:solidFill>
              </a:rPr>
              <a:t>Student output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35824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Artifact Build Brief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+ prompt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+ acceptance matrix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+ one revised artifact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07808" y="41330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F77"/>
                </a:solidFill>
              </a:rPr>
              <a:t>Useful later for agents and Streamlit prototypes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ecosystem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Use the map to choose a surface before choosing a prompt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63440" y="2788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  <a:effectLst>
            <a:outerShdw sx="100000" sy="100000" kx="0" ky="0" algn="bl" rotWithShape="0" blurRad="12700" dist="50800" dir="2700000">
              <a:srgbClr val="E6CBB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64024" y="2871216"/>
            <a:ext cx="2542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82D"/>
                </a:solidFill>
              </a:rPr>
              <a:t>Claude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282D"/>
                </a:solidFill>
              </a:rPr>
              <a:t>conversation 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41648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28016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36245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Chat / Desktop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39028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27101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Artifacts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128016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136245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Projects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Connectors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41648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465429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39028" y="40462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470916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79145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36408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57200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4504" y="4654296"/>
            <a:ext cx="2130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Cloud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57400" y="5870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82D"/>
                </a:solidFill>
              </a:rPr>
              <a:t>Skills + tools wrap across surfaces, but availability and governance differ.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surface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A fast decision path for real work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27101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Need quick thinking or draft?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8908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18872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5584" y="127101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432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23113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Need a reusable object?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8908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0" y="214884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5584" y="223113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Artifact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24328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19125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Need repo changes?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890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10896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15584" y="319125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24328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15137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Need product integration?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8908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0" y="4069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415137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API / Managed Agent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24328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5111496"/>
            <a:ext cx="3547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Need governed enterprise rollout?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78908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50292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5584" y="511149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Cloud + admin controls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49640" y="144475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D"/>
                </a:solidFill>
              </a:rPr>
              <a:t>The wrong surface creates fake productivity: fast demo, slow deployment.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49640" y="38587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F77"/>
                </a:solidFill>
              </a:rPr>
              <a:t>When in doubt, prototype in Artifact; operationalize through API only after the workflow survives tests.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Artifact?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A standalone work product, not just a pretty answer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45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82D"/>
                </a:solidFill>
              </a:rPr>
              <a:t>Artifact criteria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258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Substantial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267919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Self-contained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311810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3136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Worth editing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5570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575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Worth reusing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399592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Can stand outside the chat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5394960" cy="4526280"/>
          </a:xfrm>
          <a:prstGeom prst="roundRect">
            <a:avLst>
              <a:gd name="adj" fmla="val 1414"/>
            </a:avLst>
          </a:prstGeom>
          <a:solidFill>
            <a:srgbClr val="FFFBF8"/>
          </a:solidFill>
          <a:ln w="15240">
            <a:solidFill>
              <a:srgbClr val="E2CA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48132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563624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Document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1481328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35824" y="1563624"/>
            <a:ext cx="1490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Single-page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91472" y="148132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1563624"/>
            <a:ext cx="1033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3317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2414016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Code snippet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23317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2414016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Diagram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65792" y="23317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DFB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66376" y="241401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D"/>
                </a:solidFill>
              </a:rPr>
              <a:t>React component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37856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6048"/>
                </a:solidFill>
              </a:rPr>
              <a:t>The danger: finished-looking output can hide broken assumptions.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099048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F77"/>
                </a:solidFill>
              </a:rPr>
              <a:t>That is why the next slide is a test loop, not a prompt trick.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The workflow matters more than the first prompt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717411" y="2287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4504" y="38747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0448" y="48198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6392" y="38747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3485" y="2287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1325880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140817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Brief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3166" y="2609698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3750" y="269199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3426" y="4499762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010" y="458205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Inspect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15054" y="4499762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5638" y="458205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5314" y="2609698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5898" y="269199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Revise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56235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282D"/>
                </a:solidFill>
              </a:rPr>
              <a:t>Share / export only after acceptance tests survive a revision.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prompt anatomy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A prompt here is closer to a product brief than a command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4538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decision or 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4538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Audience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who uses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4538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Inputs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files, fields, assumptions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718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540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artifact type and behavior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9718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30540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privacy, tools, style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29718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30540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Acceptance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F77"/>
                </a:solidFill>
              </a:rPr>
              <a:t>how we judge 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82D"/>
                </a:solidFill>
              </a:rPr>
              <a:t>Revision policy: after the first draft, ask for specific changes tied to failed tests.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vs strong request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The strong request can be evaluated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800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325880"/>
            <a:ext cx="4800600" cy="4297680"/>
          </a:xfrm>
          <a:prstGeom prst="roundRect">
            <a:avLst>
              <a:gd name="adj" fmla="val 1702"/>
            </a:avLst>
          </a:prstGeom>
          <a:solidFill>
            <a:srgbClr val="FFF1EB"/>
          </a:solidFill>
          <a:ln w="15240">
            <a:solidFill>
              <a:srgbClr val="CF6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F77"/>
                </a:solidFill>
              </a:rPr>
              <a:t>Weak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</a:rPr>
              <a:t>“Make a dashboard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</a:rPr>
              <a:t>for these tickets.”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" y="38862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F77"/>
                </a:solidFill>
              </a:rPr>
              <a:t>No user, no decision, no tests, no privacy boundary.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827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Strong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176272"/>
            <a:ext cx="3794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282D"/>
                </a:solidFill>
              </a:rPr>
              <a:t>“Build a 3-minute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5282D"/>
                </a:solidFill>
              </a:rPr>
              <a:t>triage dashboard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5282D"/>
                </a:solidFill>
              </a:rPr>
              <a:t>with stale P1 warnings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5282D"/>
                </a:solidFill>
              </a:rPr>
              <a:t>and acceptance tests.”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400507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F77"/>
                </a:solidFill>
              </a:rPr>
              <a:t>User, data, constraints, decision and visible pass/fail criteria.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scenario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Support lead has three minutes before stand-up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4297680" cy="438912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82D"/>
                </a:solidFill>
              </a:rPr>
              <a:t>Input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048256"/>
            <a:ext cx="3520440" cy="365760"/>
          </a:xfrm>
          <a:prstGeom prst="rect">
            <a:avLst/>
          </a:prstGeom>
          <a:solidFill>
            <a:srgbClr val="F6E8DF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396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5282D"/>
                </a:solidFill>
              </a:rPr>
              <a:t>ID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057400" y="21396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5282D"/>
                </a:solidFill>
              </a:rPr>
              <a:t>Sev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834640" y="21396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5282D"/>
                </a:solidFill>
              </a:rPr>
              <a:t>Age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3566160" y="21396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5282D"/>
                </a:solidFill>
              </a:rPr>
              <a:t>Owner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1005840" y="2441448"/>
            <a:ext cx="3520440" cy="365760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5328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T-1001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057400" y="25328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P1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834640" y="25328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4d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566160" y="25328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Marta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005840" y="2834640"/>
            <a:ext cx="3520440" cy="365760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9260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T-1006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057400" y="29260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P1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2834640" y="29260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5d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566160" y="29260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Marta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005840" y="3227832"/>
            <a:ext cx="3520440" cy="365760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3192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T-1010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2057400" y="33192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P1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2834640" y="33192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2d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3566160" y="33192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F6048"/>
                </a:solidFill>
              </a:rPr>
              <a:t>missing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005840" y="3621024"/>
            <a:ext cx="3520440" cy="365760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712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T-1005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2057400" y="37124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P2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2834640" y="37124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D"/>
                </a:solidFill>
              </a:rPr>
              <a:t>6d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3566160" y="37124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F6048"/>
                </a:solidFill>
              </a:rPr>
              <a:t>missing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58064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6048"/>
                </a:solidFill>
              </a:rPr>
              <a:t>Operational question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806440" y="187452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282D"/>
                </a:solidFill>
              </a:rPr>
              <a:t>What should the support lead act on first this morning?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080760" y="388620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3968496"/>
            <a:ext cx="3959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82D"/>
                </a:solidFill>
              </a:rPr>
              <a:t>Acceptance tests decide quality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runbook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A reliable demo is designed like a small release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Prepare sanitized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621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Generate artifact from brief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929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Inspect against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237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Request targeted revision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545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552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2668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Discuss sharing boundary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2853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383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38944" y="19110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0" y="2606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Use local fallback if needed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7091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6048"/>
                </a:solidFill>
              </a:rPr>
              <a:t>No real customer data. No accidental publishing. No personal chat history on screen.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mental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The API makes tool use explicit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25496"/>
            <a:ext cx="1353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User 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70048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27432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2825496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Messages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22976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4768" y="27432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825496"/>
            <a:ext cx="1216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tool_use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64424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95360" y="2633472"/>
            <a:ext cx="15544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5944" y="2715768"/>
            <a:ext cx="1353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Your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executes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0588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351129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3593592"/>
            <a:ext cx="1216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tool_result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98748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0160" y="3511296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0744" y="3593592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Final answer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/ artifact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50749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82D"/>
                </a:solidFill>
              </a:rPr>
              <a:t>Your product owns state, permissions, logging, retries and side effects.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Files, PDFs and citations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Evidence workflow beats “trust me” workflow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63677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Files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upload once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1868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0" y="15544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6784" y="163677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Messages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with file_id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516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163677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Claude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reads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5372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21240" y="155448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21824" y="1636776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with citations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6048"/>
                </a:solidFill>
              </a:rPr>
              <a:t>Design rule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282D"/>
                </a:solidFill>
              </a:rPr>
              <a:t>Citations point to provided source material. They do not make weak sources reliable.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F77"/>
                </a:solidFill>
              </a:rPr>
              <a:t>Multi-tenant warning: isolate workspaces and file access. “Same workspace” is not a tenant boundary by wishful thinking.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and prompt caching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Do not repack the suitcase every turn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51560" y="141732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82D"/>
                </a:solidFill>
              </a:rPr>
              <a:t>Stable prefix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1EB"/>
          </a:solidFill>
          <a:ln w="13970">
            <a:solidFill>
              <a:srgbClr val="EFB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24140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system instructions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17320" y="2834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1EB"/>
          </a:solidFill>
          <a:ln w="13970">
            <a:solidFill>
              <a:srgbClr val="EF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29169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tool definitions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333756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1EB"/>
          </a:solidFill>
          <a:ln w="13970">
            <a:solidFill>
              <a:srgbClr val="EFB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34198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long reference docs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17320" y="384048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1EB"/>
          </a:solidFill>
          <a:ln w="13970">
            <a:solidFill>
              <a:srgbClr val="EF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392277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style guide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82D"/>
                </a:solidFill>
              </a:rPr>
              <a:t>Changing turn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78040" y="23317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24140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latest user ask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8040" y="2834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29169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timestamp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333756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34198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new file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78040" y="384048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392277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changed tool settings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33288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4864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Cache stable prefixes. Changing tools, files, images or thinking settings can break value.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Reusable work instructions, scripts and resources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2880360" cy="44348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82D"/>
                </a:solidFill>
              </a:rPr>
              <a:t>Skill folder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2402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232257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82D"/>
                </a:solidFill>
              </a:rPr>
              <a:t>SKILL.md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280720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28895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82D"/>
                </a:solidFill>
              </a:rPr>
              <a:t>scripts/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3374136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345643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82D"/>
                </a:solidFill>
              </a:rPr>
              <a:t>templates/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394106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4023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82D"/>
                </a:solidFill>
              </a:rPr>
              <a:t>examples/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47388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3480" y="2926080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30083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Claude discovers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when relevant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2068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604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8160" y="2926080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300837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Better repeated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workflow 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9253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82D"/>
                </a:solidFill>
              </a:rPr>
              <a:t>Skill ≠ permission model. A Skill can help Claude work; your environment still owns access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The easiest leak is a beautiful artifact everyone wants to share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5943600" cy="493776"/>
          </a:xfrm>
          <a:prstGeom prst="rect">
            <a:avLst/>
          </a:prstGeom>
          <a:solidFill>
            <a:srgbClr val="F6E8DF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463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5282D"/>
                </a:solidFill>
              </a:rPr>
              <a:t>Risk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514600" y="14630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5282D"/>
                </a:solidFill>
              </a:rPr>
              <a:t>Control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5943600" cy="493776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9842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Public link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514600" y="1984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Treat as publication; sanitize before sharing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14400" y="2368296"/>
            <a:ext cx="5943600" cy="493776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5054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Org sharing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2514600" y="25054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Check plan, tenant and access rules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14400" y="2889504"/>
            <a:ext cx="5943600" cy="493776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0266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Files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514600" y="30266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Separate tenant/workspace boundaries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14400" y="3410712"/>
            <a:ext cx="5943600" cy="493776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5478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Tools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514600" y="35478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Approve side effects; log actions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5943600" cy="493776"/>
          </a:xfrm>
          <a:prstGeom prst="rect">
            <a:avLst/>
          </a:prstGeom>
          <a:solidFill>
            <a:srgbClr val="FFFBF8"/>
          </a:solidFill>
          <a:ln w="7620">
            <a:solidFill>
              <a:srgbClr val="E8D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0690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Skills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2514600" y="40690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D"/>
                </a:solidFill>
              </a:rPr>
              <a:t>Audit scripts and network behavior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589520" y="1645920"/>
            <a:ext cx="2926080" cy="2651760"/>
          </a:xfrm>
          <a:prstGeom prst="roundRect">
            <a:avLst>
              <a:gd name="adj" fmla="val 2759"/>
            </a:avLst>
          </a:prstGeom>
          <a:solidFill>
            <a:srgbClr val="FFF1EB"/>
          </a:solidFill>
          <a:ln w="15240">
            <a:solidFill>
              <a:srgbClr val="CF60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103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282D"/>
                </a:solidFill>
              </a:rPr>
              <a:t>Private by default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5282D"/>
                </a:solidFill>
              </a:rPr>
              <a:t>is not a deployment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5282D"/>
                </a:solidFill>
              </a:rPr>
              <a:t>strategy.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90956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Decide: who can see it, who can change it, what data it contains, and what can execute.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Judge artifacts by task success, not demo applause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83480" y="111556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84064" y="11978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Task success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700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Answers the decision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33288" y="22174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59161" y="209854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9745" y="218084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59161" y="26837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Uses inputs correctly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21128" y="27089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59161" y="406450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9745" y="41468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Usability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59161" y="46497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Clear in 3 minutes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21128" y="36918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3480" y="504748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51297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Safety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5632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No leakage or harmful action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33288" y="41833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07799" y="406450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8383" y="41468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7799" y="46497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Readable and revisable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45448" y="36918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07799" y="2098548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8383" y="218084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Cost / latency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7799" y="26837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6F77"/>
                </a:solidFill>
              </a:rPr>
              <a:t>Viable for repeated use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45448" y="27089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0" y="2944368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302666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PASS?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tests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exercise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Build, test and revise one artifact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Choose scenario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95628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Fill Build Brief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0148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Generate/inspect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4668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Run 5 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19188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8388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Revise once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3708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8A7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F6048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58984" y="168249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38360" y="233172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Submit package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40690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D6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4370832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282D"/>
                </a:solidFill>
              </a:rPr>
              <a:t>Output: build brief + prompt + acceptance matrix + final artifact or screenshot/link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Homework artifact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A reusable brief that feeds later modules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19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51560" y="1234440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144" y="1316736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Problem / decision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344" y="1316736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Primary user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1984248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066544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Source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84248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2066544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Artifact 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2734056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81635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Constraints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734056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81635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Acceptance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483864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8D6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356616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D"/>
                </a:solidFill>
              </a:rPr>
              <a:t>Revision backlog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56235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6048"/>
                </a:solidFill>
              </a:rPr>
              <a:t>This brief can later become an open-model prompt, an agent specification, or a Streamlit prototype backlog.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failures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Most failures are workflow failures, not model mysteries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20</a:t>
            </a:r>
            <a:endParaRPr lang="en-US" sz="750" dirty="0"/>
          </a:p>
        </p:txBody>
      </p:sp>
      <p:pic>
        <p:nvPicPr>
          <p:cNvPr id="7" name="Image 0" descr="/mnt/data/a_clean_flat_vector_comic_style_illustration_divid.png">    </p:cNvPr>
          <p:cNvPicPr>
            <a:picLocks noChangeAspect="1"/>
          </p:cNvPicPr>
          <p:nvPr/>
        </p:nvPicPr>
        <p:blipFill>
          <a:blip r:embed="rId1"/>
          <a:srcRect l="21456" r="21456" t="0" b="0"/>
          <a:stretch/>
        </p:blipFill>
        <p:spPr>
          <a:xfrm>
            <a:off x="658368" y="1170432"/>
            <a:ext cx="4526280" cy="4462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4173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435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Beautiful but wrong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06440" y="198424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20025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No data contract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06440" y="255117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569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Hidden assumptions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06440" y="311810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3136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Public-share leakage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06440" y="368503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3703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Unreviewed Skill code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06440" y="425196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48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4270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D"/>
                </a:solidFill>
              </a:rPr>
              <a:t>Cache misses from changing context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79008" y="51663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F6048"/>
                </a:solidFill>
              </a:rPr>
              <a:t>Fix with: acceptance tests, targeted revisions, source notes and sharing review.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F77"/>
                </a:solidFill>
              </a:rPr>
              <a:t>What should stick after the laptop closes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21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131673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Workbench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1344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282D"/>
                </a:solidFill>
              </a:rPr>
              <a:t>Claude is more than chat; choose the surface deliberately.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13969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Artifact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1671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282D"/>
                </a:solidFill>
              </a:rPr>
              <a:t>Specify the work product and test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28803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296265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9900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282D"/>
                </a:solidFill>
              </a:rPr>
              <a:t>Your application owns state and side effects.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7033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78561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8130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282D"/>
                </a:solidFill>
              </a:rPr>
              <a:t>Reusable capability needs ownership and review.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4526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1EB"/>
          </a:solidFill>
          <a:ln w="13970">
            <a:solidFill>
              <a:srgbClr val="CF6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460857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D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46360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282D"/>
                </a:solidFill>
              </a:rPr>
              <a:t>Sharing, files and tools are product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6048"/>
          </a:solidFill>
          <a:ln w="12700">
            <a:solidFill>
              <a:srgbClr val="CF60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331720" y="3063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6F77"/>
                </a:solidFill>
              </a:rPr>
              <a:t>Next: Open Models — local inference, LM Studio and hosted GPU workflows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GenAI Basics · 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31168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B85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GenAI Basics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L09 — Claude Ecosystem and Artifacts</dc:title>
  <dc:subject>GenAI Basics Module 09</dc:subject>
  <dc:creator>OpenAI</dc:creator>
  <cp:lastModifiedBy>OpenAI</cp:lastModifiedBy>
  <cp:revision>1</cp:revision>
  <dcterms:created xsi:type="dcterms:W3CDTF">2026-09-08T12:54:48Z</dcterms:created>
  <dcterms:modified xsi:type="dcterms:W3CDTF">2026-09-08T12:54:48Z</dcterms:modified>
</cp:coreProperties>
</file>