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minutes. State that we are fixing value density and pedagogy, not just cosmetics.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Use this slide to manage expectations and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Explain as vocabulary for decisions, not taxonomy trivia.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Ask room to classify each use case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Explain x, y, theta, loss in plain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Emphasize feedback loop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minutes. Walk through a cat/dog or churn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Link to cloud/cost discussions later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Keep it conceptual, not formula-heavy.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Introduce vocabulary for PM/engineer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Bridge from ML into LLMs.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Keep it high-level and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This is the practical black-box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Explain why long documents cost more and why context limits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Build the intuition needed for RAG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Use this as the roadmap before attention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minutes. Explain Q/K/V as a matching-and-mixing mechanism,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Explain residual connections as preserving and adding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Connect transformer behavior to hallucination/control.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Core product framing for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Keep RAG conceptual.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This tees up the next lesson and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minutes. Clarify that agent means tool/action loop, not just chat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minutes. Make this operational, not compliance theater.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Avoid generic human review; define approval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minutes. Connect to later cloud/platform lectures.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minutes. Use a short policy paragraph. Compare output quality, not model brands.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10–12 minutes. Groups choose a use case, classify it, and identify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This can be homework or in-class wrap depending on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minutes. Use this as final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55664"/>
            <a:ext cx="11320272" cy="0"/>
          </a:xfrm>
          <a:prstGeom prst="line">
            <a:avLst/>
          </a:prstGeom>
          <a:noFill/>
          <a:ln w="6350">
            <a:solidFill>
              <a:srgbClr val="D6D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Basics · Lecture 01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913632" y="652881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· ML · Transformers · GenAI workflows · Controls</a:t>
            </a:r>
            <a:endParaRPr lang="en-US" sz="6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6C9"/>
          </a:solidFill>
          <a:ln w="12700">
            <a:solidFill>
              <a:srgbClr val="2F66C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AI, ML and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2487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90-minute lecture for practical understanding: mechanisms, workflows and controls.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3310128"/>
            <a:ext cx="347472" cy="347472"/>
          </a:xfrm>
          <a:prstGeom prst="ellipse">
            <a:avLst/>
          </a:prstGeom>
          <a:solidFill>
            <a:srgbClr val="2F66C9"/>
          </a:solidFill>
          <a:ln w="6350">
            <a:solidFill>
              <a:srgbClr val="2F6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3695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33284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33284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family tree?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9808" y="3877056"/>
            <a:ext cx="347472" cy="347472"/>
          </a:xfrm>
          <a:prstGeom prst="ellipse">
            <a:avLst/>
          </a:prstGeom>
          <a:solidFill>
            <a:srgbClr val="137D78"/>
          </a:solidFill>
          <a:ln w="6350">
            <a:solidFill>
              <a:srgbClr val="137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9364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38953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mechanism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88920" y="38953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learning happen?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49808" y="4443984"/>
            <a:ext cx="347472" cy="347472"/>
          </a:xfrm>
          <a:prstGeom prst="ellipse">
            <a:avLst/>
          </a:prstGeom>
          <a:solidFill>
            <a:srgbClr val="7257C7"/>
          </a:solidFill>
          <a:ln w="6350">
            <a:solidFill>
              <a:srgbClr val="725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5034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44622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88920" y="4462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LLMs work?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49808" y="5010912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0703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systems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88920" y="5029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them safely?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0" y="868680"/>
            <a:ext cx="45262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170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Mechanism-first deck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84848" y="1737360"/>
            <a:ext cx="347472" cy="347472"/>
          </a:xfrm>
          <a:prstGeom prst="ellipse">
            <a:avLst/>
          </a:prstGeom>
          <a:solidFill>
            <a:srgbClr val="2F66C9"/>
          </a:solidFill>
          <a:ln w="6350">
            <a:solidFill>
              <a:srgbClr val="2F6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17967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60920" y="1719072"/>
            <a:ext cx="242316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58584" y="2121408"/>
            <a:ext cx="0" cy="201168"/>
          </a:xfrm>
          <a:prstGeom prst="line">
            <a:avLst/>
          </a:prstGeom>
          <a:noFill/>
          <a:ln w="1143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84848" y="2395728"/>
            <a:ext cx="347472" cy="347472"/>
          </a:xfrm>
          <a:prstGeom prst="ellipse">
            <a:avLst/>
          </a:prstGeom>
          <a:solidFill>
            <a:srgbClr val="137D78"/>
          </a:solidFill>
          <a:ln w="6350">
            <a:solidFill>
              <a:srgbClr val="137D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24551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60920" y="2377440"/>
            <a:ext cx="242316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58584" y="2779776"/>
            <a:ext cx="0" cy="201168"/>
          </a:xfrm>
          <a:prstGeom prst="line">
            <a:avLst/>
          </a:prstGeom>
          <a:noFill/>
          <a:ln w="1143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84848" y="3054096"/>
            <a:ext cx="347472" cy="347472"/>
          </a:xfrm>
          <a:prstGeom prst="ellipse">
            <a:avLst/>
          </a:prstGeom>
          <a:solidFill>
            <a:srgbClr val="7257C7"/>
          </a:solidFill>
          <a:ln w="6350">
            <a:solidFill>
              <a:srgbClr val="7257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31135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60920" y="3035808"/>
            <a:ext cx="242316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58584" y="3438144"/>
            <a:ext cx="0" cy="201168"/>
          </a:xfrm>
          <a:prstGeom prst="line">
            <a:avLst/>
          </a:prstGeom>
          <a:noFill/>
          <a:ln w="11430">
            <a:solidFill>
              <a:srgbClr val="5D6B8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784848" y="3712464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37719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60920" y="3694176"/>
            <a:ext cx="242316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5193792"/>
            <a:ext cx="3977640" cy="530352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native PowerPoint version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diagram PNGs in core slides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4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result: what had to change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v6 was editable, but too thin for a 90-minute lecture.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4747"/>
          </a:solidFill>
          <a:ln w="12700">
            <a:solidFill>
              <a:srgbClr val="C6474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64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822960" y="1572768"/>
            <a:ext cx="49834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7552" y="1773936"/>
            <a:ext cx="347472" cy="347472"/>
          </a:xfrm>
          <a:prstGeom prst="ellipse">
            <a:avLst/>
          </a:prstGeom>
          <a:solidFill>
            <a:srgbClr val="C64747"/>
          </a:solidFill>
          <a:ln w="6350">
            <a:solidFill>
              <a:srgbClr val="C647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18333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81328" y="17556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airy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81328" y="21031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slides left long empty stretches and weak instructor support.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2960" y="3429000"/>
            <a:ext cx="49834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7552" y="3630168"/>
            <a:ext cx="347472" cy="347472"/>
          </a:xfrm>
          <a:prstGeom prst="ellipse">
            <a:avLst/>
          </a:prstGeom>
          <a:solidFill>
            <a:srgbClr val="C64747"/>
          </a:solidFill>
          <a:ln w="6350">
            <a:solidFill>
              <a:srgbClr val="C647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6896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481328" y="3611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little mechanism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81328" y="395935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ML, transformer and attention were present but not taught step by step.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263640" y="1572768"/>
            <a:ext cx="49834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28232" y="1773936"/>
            <a:ext cx="347472" cy="347472"/>
          </a:xfrm>
          <a:prstGeom prst="ellipse">
            <a:avLst/>
          </a:prstGeom>
          <a:solidFill>
            <a:srgbClr val="C64747"/>
          </a:solidFill>
          <a:ln w="6350">
            <a:solidFill>
              <a:srgbClr val="C647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8333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22008" y="17556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practice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22008" y="21031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enough checks, prompts, exercises or handoffs for a 90-minute class.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6263640" y="3429000"/>
            <a:ext cx="49834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28232" y="3630168"/>
            <a:ext cx="347472" cy="347472"/>
          </a:xfrm>
          <a:prstGeom prst="ellipse">
            <a:avLst/>
          </a:prstGeom>
          <a:solidFill>
            <a:srgbClr val="C64747"/>
          </a:solidFill>
          <a:ln w="6350">
            <a:solidFill>
              <a:srgbClr val="C6474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28232" y="36896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22008" y="3611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narrative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22008" y="395935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learner did not always know why a concept mattered.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1005840" y="5349240"/>
            <a:ext cx="10149840" cy="566928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in v7: 31 native editable slides, richer mechanisms, timing plan, micro-checks, demo path and workshop instructions.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90-minute delivery plan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value without turning L01 into a full ML course.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6C9"/>
          </a:solidFill>
          <a:ln w="12700">
            <a:solidFill>
              <a:srgbClr val="2F66C9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1536192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956816"/>
            <a:ext cx="1536192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2F66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map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0664" y="25420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a family, not one product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258568" y="2176272"/>
            <a:ext cx="210312" cy="0"/>
          </a:xfrm>
          <a:prstGeom prst="line">
            <a:avLst/>
          </a:prstGeom>
          <a:noFill/>
          <a:ln w="1270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2560320" y="1508760"/>
            <a:ext cx="1536192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10–32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60320" y="1956816"/>
            <a:ext cx="1536192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ML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615184" y="25420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loop, train/inference, evaluation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133088" y="2176272"/>
            <a:ext cx="210312" cy="0"/>
          </a:xfrm>
          <a:prstGeom prst="line">
            <a:avLst/>
          </a:prstGeom>
          <a:noFill/>
          <a:ln w="1270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4434840" y="1508760"/>
            <a:ext cx="1536192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32–55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34840" y="1956816"/>
            <a:ext cx="1536192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89704" y="25420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tokens, embeddings, attention, blocks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6007608" y="2176272"/>
            <a:ext cx="210312" cy="0"/>
          </a:xfrm>
          <a:prstGeom prst="line">
            <a:avLst/>
          </a:prstGeom>
          <a:noFill/>
          <a:ln w="1270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6309360" y="1508760"/>
            <a:ext cx="1536192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55–75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1956816"/>
            <a:ext cx="1536192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systems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364224" y="25420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workflow, grounding, agents, controls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7882128" y="2176272"/>
            <a:ext cx="210312" cy="0"/>
          </a:xfrm>
          <a:prstGeom prst="line">
            <a:avLst/>
          </a:prstGeom>
          <a:noFill/>
          <a:ln w="1270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8183880" y="1508760"/>
            <a:ext cx="1536192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75–88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183880" y="1956816"/>
            <a:ext cx="1536192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B77B1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238744" y="25420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use cases + controlled prompt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9756648" y="2176272"/>
            <a:ext cx="210312" cy="0"/>
          </a:xfrm>
          <a:prstGeom prst="line">
            <a:avLst/>
          </a:prstGeom>
          <a:noFill/>
          <a:ln w="1270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10058400" y="1508760"/>
            <a:ext cx="1536192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44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88–90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058400" y="1956816"/>
            <a:ext cx="1536192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32445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0113264" y="25420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takeaways and next module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1005840" y="4645152"/>
            <a:ext cx="100584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rule: do not spend 20 minutes on definitions. Spend time on the diagrams, checks and examples.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AI, ML, Deep Learning, and Beyond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hierarchy from broad concepts to specific applications.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6C9"/>
          </a:solidFill>
          <a:ln w="12700">
            <a:solidFill>
              <a:srgbClr val="2F66C9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MAP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914400" y="1143000"/>
            <a:ext cx="2788920" cy="411480"/>
          </a:xfrm>
          <a:prstGeom prst="rect">
            <a:avLst/>
          </a:prstGeom>
          <a:solidFill>
            <a:srgbClr val="32445C"/>
          </a:solidFill>
          <a:ln w="11430">
            <a:solidFill>
              <a:srgbClr val="32445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69080" y="12161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that perform tasks requiring intelligence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721608" y="1344168"/>
            <a:ext cx="256032" cy="0"/>
          </a:xfrm>
          <a:prstGeom prst="line">
            <a:avLst/>
          </a:prstGeom>
          <a:noFill/>
          <a:ln w="12700">
            <a:solidFill>
              <a:srgbClr val="3244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801368"/>
            <a:ext cx="2788920" cy="411480"/>
          </a:xfrm>
          <a:prstGeom prst="rect">
            <a:avLst/>
          </a:prstGeom>
          <a:solidFill>
            <a:srgbClr val="137D78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69080" y="187452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patterns from data instead of explicit rules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3721608" y="2002536"/>
            <a:ext cx="256032" cy="0"/>
          </a:xfrm>
          <a:prstGeom prst="line">
            <a:avLst/>
          </a:prstGeom>
          <a:noFill/>
          <a:ln w="12700">
            <a:solidFill>
              <a:srgbClr val="137D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459736"/>
            <a:ext cx="2788920" cy="411480"/>
          </a:xfrm>
          <a:prstGeom prst="rect">
            <a:avLst/>
          </a:prstGeom>
          <a:solidFill>
            <a:srgbClr val="7257C7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69080" y="25328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many-layer neural networks learn representations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3721608" y="2660904"/>
            <a:ext cx="256032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3118104"/>
            <a:ext cx="2788920" cy="411480"/>
          </a:xfrm>
          <a:prstGeom prst="rect">
            <a:avLst/>
          </a:prstGeom>
          <a:solidFill>
            <a:srgbClr val="173E8A"/>
          </a:solidFill>
          <a:ln w="11430">
            <a:solidFill>
              <a:srgbClr val="173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069080" y="319125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general-purpose pretrained models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3721608" y="3319272"/>
            <a:ext cx="256032" cy="0"/>
          </a:xfrm>
          <a:prstGeom prst="line">
            <a:avLst/>
          </a:prstGeom>
          <a:noFill/>
          <a:ln w="12700">
            <a:solidFill>
              <a:srgbClr val="173E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776472"/>
            <a:ext cx="2788920" cy="411480"/>
          </a:xfrm>
          <a:prstGeom prst="rect">
            <a:avLst/>
          </a:prstGeom>
          <a:solidFill>
            <a:srgbClr val="137D78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069080" y="384962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 specialized for language/code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3721608" y="3977640"/>
            <a:ext cx="256032" cy="0"/>
          </a:xfrm>
          <a:prstGeom prst="line">
            <a:avLst/>
          </a:prstGeom>
          <a:noFill/>
          <a:ln w="12700">
            <a:solidFill>
              <a:srgbClr val="137D7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4434840"/>
            <a:ext cx="2788920" cy="411480"/>
          </a:xfrm>
          <a:prstGeom prst="rect">
            <a:avLst/>
          </a:prstGeom>
          <a:solidFill>
            <a:srgbClr val="3C906E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069080" y="450799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new text, code, images, audio or video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3721608" y="4636008"/>
            <a:ext cx="256032" cy="0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486400"/>
            <a:ext cx="1033272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correction: GenAI and LLM are not synonyms. Many GenAI systems use LLMs, but GenAI also includes image, audio and video generation.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use case before choosing a tool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confusion disappears when you ask what the system must do.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6C9"/>
          </a:solidFill>
          <a:ln w="12700">
            <a:solidFill>
              <a:srgbClr val="2F66C9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MAP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777240" y="1325880"/>
            <a:ext cx="3017520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1938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· classify · forecast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560" y="1325880"/>
            <a:ext cx="3017520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80560" y="1938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· transform · synthesize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183880" y="1325880"/>
            <a:ext cx="3017520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83880" y="1938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tools · change systems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2743200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risk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3611880" y="2743200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email draft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6446520" y="2743200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VAT formula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rule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9281160" y="2743200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failure ticket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with approval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777240" y="3493008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thumbnail concept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3611880" y="3493008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alert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6446520" y="3493008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decision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high-control workflow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9281160" y="3493008"/>
            <a:ext cx="242316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update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action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1005840" y="5330952"/>
            <a:ext cx="10058400" cy="56692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if the system changes another system, treat it as action — even if an LLM wrote the text.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D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in one equation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learns parameters that map inputs to useful outputs.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D78"/>
          </a:solidFill>
          <a:ln w="12700">
            <a:solidFill>
              <a:srgbClr val="137D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234440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57984" y="2724912"/>
            <a:ext cx="585216" cy="0"/>
          </a:xfrm>
          <a:prstGeom prst="line">
            <a:avLst/>
          </a:prstGeom>
          <a:noFill/>
          <a:ln w="15240">
            <a:solidFill>
              <a:srgbClr val="137D78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2816352" y="2157984"/>
            <a:ext cx="1828800" cy="1133856"/>
          </a:xfrm>
          <a:prstGeom prst="rect">
            <a:avLst/>
          </a:prstGeom>
          <a:solidFill>
            <a:srgbClr val="ECFDF5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f(x; θ)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2724912"/>
            <a:ext cx="585216" cy="0"/>
          </a:xfrm>
          <a:prstGeom prst="line">
            <a:avLst/>
          </a:prstGeom>
          <a:noFill/>
          <a:ln w="15240">
            <a:solidFill>
              <a:srgbClr val="137D78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440680" y="2331720"/>
            <a:ext cx="1417320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49440" y="2724912"/>
            <a:ext cx="548640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571232" y="2331720"/>
            <a:ext cx="1463040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16568" y="2724912"/>
            <a:ext cx="484632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674352" y="2331720"/>
            <a:ext cx="1645920" cy="777240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signal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469880" y="3218688"/>
            <a:ext cx="-6720840" cy="941832"/>
          </a:xfrm>
          <a:prstGeom prst="line">
            <a:avLst/>
          </a:prstGeom>
          <a:noFill/>
          <a:ln w="13970">
            <a:solidFill>
              <a:srgbClr val="137D7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49040" y="4160520"/>
            <a:ext cx="0" cy="-749808"/>
          </a:xfrm>
          <a:prstGeom prst="line">
            <a:avLst/>
          </a:prstGeom>
          <a:noFill/>
          <a:ln w="13970">
            <a:solidFill>
              <a:srgbClr val="137D78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288036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 = parameters / weights learned from data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057400" y="4800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tells the system how wrong it was. Training adjusts θ to reduce loss.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D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ML pipeline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is a product system, not just a training run.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D78"/>
          </a:solidFill>
          <a:ln w="12700">
            <a:solidFill>
              <a:srgbClr val="137D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1463040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collect, store, label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94560" y="2075688"/>
            <a:ext cx="28346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560320" y="1828800"/>
            <a:ext cx="1463040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0604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clean, transform, represent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069080" y="2075688"/>
            <a:ext cx="28346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434840" y="1828800"/>
            <a:ext cx="1463040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8056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parameters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5943600" y="2075688"/>
            <a:ext cx="28346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6309360" y="1828800"/>
            <a:ext cx="1463040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performance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7818120" y="2075688"/>
            <a:ext cx="28346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8183880" y="1828800"/>
            <a:ext cx="1463040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predictions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9692640" y="2075688"/>
            <a:ext cx="28346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10058400" y="1828800"/>
            <a:ext cx="1463040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10412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drift and quality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0561320" y="3127248"/>
            <a:ext cx="-9189720" cy="0"/>
          </a:xfrm>
          <a:prstGeom prst="line">
            <a:avLst/>
          </a:prstGeom>
          <a:noFill/>
          <a:ln w="13970">
            <a:solidFill>
              <a:srgbClr val="137D7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71600" y="3127248"/>
            <a:ext cx="0" cy="-612648"/>
          </a:xfrm>
          <a:prstGeom prst="line">
            <a:avLst/>
          </a:prstGeom>
          <a:noFill/>
          <a:ln w="13970">
            <a:solidFill>
              <a:srgbClr val="137D78"/>
            </a:solidFill>
            <a:prstDash val="solid"/>
            <a:headEnd type="none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3657600" y="32644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loop: monitoring improves data, features and model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05840" y="4800600"/>
            <a:ext cx="100584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ML adds monitoring because real data changes. A model can be correct on old data and wrong next month.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D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Supervised learning loop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improves by comparing predictions with ground truth.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D78"/>
          </a:solidFill>
          <a:ln w="12700">
            <a:solidFill>
              <a:srgbClr val="137D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868680" y="1920240"/>
            <a:ext cx="1481328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examples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41832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x + correct 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04872" y="2176272"/>
            <a:ext cx="42062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926080" y="1920240"/>
            <a:ext cx="1481328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999232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f(x; θ)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62272" y="2176272"/>
            <a:ext cx="42062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983480" y="1920240"/>
            <a:ext cx="1481328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56632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19672" y="2176272"/>
            <a:ext cx="42062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040880" y="1920240"/>
            <a:ext cx="1481328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114032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vs 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577072" y="2176272"/>
            <a:ext cx="420624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9098280" y="1920240"/>
            <a:ext cx="1481328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71432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value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966960" y="2926080"/>
            <a:ext cx="-7223760" cy="1115568"/>
          </a:xfrm>
          <a:prstGeom prst="line">
            <a:avLst/>
          </a:prstGeom>
          <a:noFill/>
          <a:ln w="13970">
            <a:solidFill>
              <a:srgbClr val="137D7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0" y="4041648"/>
            <a:ext cx="0" cy="-1435608"/>
          </a:xfrm>
          <a:prstGeom prst="line">
            <a:avLst/>
          </a:prstGeom>
          <a:noFill/>
          <a:ln w="13970">
            <a:solidFill>
              <a:srgbClr val="137D78"/>
            </a:solidFill>
            <a:prstDash val="solid"/>
            <a:headEnd type="none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3931920" y="40050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θ to reduce future loss</a:t>
            </a:r>
            <a:endParaRPr lang="en-US" sz="1180" dirty="0"/>
          </a:p>
        </p:txBody>
      </p:sp>
      <p:sp>
        <p:nvSpPr>
          <p:cNvPr id="26" name="Text 23"/>
          <p:cNvSpPr/>
          <p:nvPr/>
        </p:nvSpPr>
        <p:spPr>
          <a:xfrm>
            <a:off x="1005840" y="5074920"/>
            <a:ext cx="10058400" cy="56692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translation: the system sees examples, makes errors, and adjusts parameters to reduce future errors.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D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vs. inference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model family, different purpose, data and operating constraints.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D78"/>
          </a:solidFill>
          <a:ln w="12700">
            <a:solidFill>
              <a:srgbClr val="137D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777240" y="1353312"/>
            <a:ext cx="4983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1430">
            <a:solidFill>
              <a:srgbClr val="137D7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353312"/>
            <a:ext cx="4983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1430">
            <a:solidFill>
              <a:srgbClr val="3C90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1664208"/>
            <a:ext cx="201168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97280" y="2304288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training data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changes parameters / weights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compute-heavy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offline or periodic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outputs a trained model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1664208"/>
            <a:ext cx="201168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75120" y="2304288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new inputs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keeps parameters fixed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latency-sensitive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online or batch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outputs predictions / generated content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" y="5330952"/>
            <a:ext cx="5166360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Training: “learn the behavior”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6272784" y="5330952"/>
            <a:ext cx="5166360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Inference: “use the learned behavior”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D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Evaluation: know what “good” means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measurement, ML becomes expensive guesswork.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D78"/>
          </a:solidFill>
          <a:ln w="12700">
            <a:solidFill>
              <a:srgbClr val="137D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914400" y="141732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691640"/>
            <a:ext cx="2423160" cy="411480"/>
          </a:xfrm>
          <a:prstGeom prst="rect">
            <a:avLst/>
          </a:prstGeom>
          <a:solidFill>
            <a:srgbClr val="ECFDF5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331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model parameters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1234440" y="27889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sample, used many times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141732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691640"/>
            <a:ext cx="2423160" cy="411480"/>
          </a:xfrm>
          <a:prstGeom prst="rect">
            <a:avLst/>
          </a:prstGeom>
          <a:solidFill>
            <a:srgbClr val="EFF6FF"/>
          </a:solidFill>
          <a:ln w="11430">
            <a:solidFill>
              <a:srgbClr val="2F66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63440" y="2331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model / settings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4754880" y="27889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during development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1417320"/>
            <a:ext cx="2880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1691640"/>
            <a:ext cx="2423160" cy="411480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83880" y="2331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quality estimate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8275320" y="27889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 out until the end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60120" y="4800600"/>
            <a:ext cx="1014984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failure: a model looks great on the data it saw, but fails on new data. That is why separation matters.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D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issues you can recognize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need to be a data scientist to spot these patterns.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7D78"/>
          </a:solidFill>
          <a:ln w="12700">
            <a:solidFill>
              <a:srgbClr val="137D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777240" y="1417320"/>
            <a:ext cx="3154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5636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Underfitting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41832" y="1892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too simple; misses real pattern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4480560" y="1417320"/>
            <a:ext cx="3154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15636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Overfitting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45152" y="1892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memorizes training data; fails on new data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183880" y="1417320"/>
            <a:ext cx="3154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48472" y="15636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drift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348472" y="1892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data changes after launch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77240" y="3044952"/>
            <a:ext cx="3154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31912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noise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41832" y="3520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target is inconsistent or wrong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80560" y="3044952"/>
            <a:ext cx="3154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45152" y="31912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645152" y="3520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differs across groups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183880" y="3044952"/>
            <a:ext cx="315468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48472" y="31912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348472" y="3520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 contains future/forbidden signals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1005840" y="5349240"/>
            <a:ext cx="10058400" cy="56692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for non-specialists: ask how quality is measured, where the data comes from, and what happens after deployment.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 ML vs. foundation models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broad idea — learn from data — but different scale and reuse model.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3337560" y="1234440"/>
            <a:ext cx="219456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137D7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ML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0" y="1234440"/>
            <a:ext cx="2377440" cy="384048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828800"/>
            <a:ext cx="160020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26080" y="1828800"/>
            <a:ext cx="288036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measurable task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6263640" y="1828800"/>
            <a:ext cx="374904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reusable capability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1051560" y="2395728"/>
            <a:ext cx="160020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26080" y="2395728"/>
            <a:ext cx="288036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task-specific dataset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6263640" y="2395728"/>
            <a:ext cx="374904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massive mixed pretraining data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1051560" y="2962656"/>
            <a:ext cx="160020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926080" y="2962656"/>
            <a:ext cx="288036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score, label, forecast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6263640" y="2962656"/>
            <a:ext cx="374904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code, image, audio, structured data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1051560" y="3529584"/>
            <a:ext cx="160020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926080" y="3529584"/>
            <a:ext cx="288036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narrow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6263640" y="3529584"/>
            <a:ext cx="374904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adaptable through prompts, tools, fine-tuning</a:t>
            </a:r>
            <a:endParaRPr lang="en-US" sz="1010" dirty="0"/>
          </a:p>
        </p:txBody>
      </p:sp>
      <p:sp>
        <p:nvSpPr>
          <p:cNvPr id="23" name="Text 20"/>
          <p:cNvSpPr/>
          <p:nvPr/>
        </p:nvSpPr>
        <p:spPr>
          <a:xfrm>
            <a:off x="1051560" y="4096512"/>
            <a:ext cx="160020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26080" y="4096512"/>
            <a:ext cx="288036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+ drift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6263640" y="4096512"/>
            <a:ext cx="3749040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hallucination, privacy, misuse, cost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1005840" y="5074920"/>
            <a:ext cx="100584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foundation model is not automatically a product. Product value comes from context, workflow, tools and controls.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 model lifecycle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 once, adapt many times, govern every use.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1737360" cy="502920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2487168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broad patterns from large data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468880" y="2084832"/>
            <a:ext cx="338328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926080" y="1828800"/>
            <a:ext cx="1737360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99232" y="2487168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prompt, retrieve, fine-tune, align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709160" y="2084832"/>
            <a:ext cx="338328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166360" y="1828800"/>
            <a:ext cx="1737360" cy="50292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39512" y="2487168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to data, tools and UI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949440" y="2084832"/>
            <a:ext cx="338328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406640" y="1828800"/>
            <a:ext cx="1737360" cy="502920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79792" y="2487168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quality, safety and cost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9189720" y="2084832"/>
            <a:ext cx="338328" cy="0"/>
          </a:xfrm>
          <a:prstGeom prst="line">
            <a:avLst/>
          </a:prstGeom>
          <a:noFill/>
          <a:ln w="13970">
            <a:solidFill>
              <a:srgbClr val="D6DFEB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9646920" y="1828800"/>
            <a:ext cx="1737360" cy="502920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720072" y="2487168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monitor, log, improve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960120" y="4846320"/>
            <a:ext cx="101955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enterprise work, “we use GPT/Claude/Gemini” is not a solution description. The solution is the whole system around the model.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output mechanism: next token prediction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language model predicts a probability distribution over possible next tokens.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822960" y="1828800"/>
            <a:ext cx="2194560" cy="914400"/>
          </a:xfrm>
          <a:prstGeom prst="rect">
            <a:avLst/>
          </a:prstGeom>
          <a:solidFill>
            <a:srgbClr val="FFFF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cat sat on the”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54680" y="2286000"/>
            <a:ext cx="548640" cy="0"/>
          </a:xfrm>
          <a:prstGeom prst="line">
            <a:avLst/>
          </a:prstGeom>
          <a:noFill/>
          <a:ln w="1524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794760" y="1737360"/>
            <a:ext cx="2377440" cy="1097280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→ representation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286000"/>
            <a:ext cx="548640" cy="0"/>
          </a:xfrm>
          <a:prstGeom prst="line">
            <a:avLst/>
          </a:prstGeom>
          <a:noFill/>
          <a:ln w="1524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995160" y="14173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23760" y="1664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Next-token probabilities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69480" y="202996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7973568" y="2103120"/>
            <a:ext cx="1545336" cy="0"/>
          </a:xfrm>
          <a:prstGeom prst="line">
            <a:avLst/>
          </a:prstGeom>
          <a:noFill/>
          <a:ln w="63500">
            <a:solidFill>
              <a:srgbClr val="7257C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18904" y="2103120"/>
            <a:ext cx="905256" cy="0"/>
          </a:xfrm>
          <a:prstGeom prst="line">
            <a:avLst/>
          </a:prstGeom>
          <a:noFill/>
          <a:ln w="63500">
            <a:solidFill>
              <a:srgbClr val="E3E8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69480" y="226771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973568" y="2340864"/>
            <a:ext cx="427939" cy="0"/>
          </a:xfrm>
          <a:prstGeom prst="line">
            <a:avLst/>
          </a:prstGeom>
          <a:noFill/>
          <a:ln w="63500">
            <a:solidFill>
              <a:srgbClr val="7257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01507" y="2340864"/>
            <a:ext cx="2022653" cy="0"/>
          </a:xfrm>
          <a:prstGeom prst="line">
            <a:avLst/>
          </a:prstGeom>
          <a:noFill/>
          <a:ln w="63500">
            <a:solidFill>
              <a:srgbClr val="E3E8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69480" y="250545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rug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973568" y="2578608"/>
            <a:ext cx="213970" cy="0"/>
          </a:xfrm>
          <a:prstGeom prst="line">
            <a:avLst/>
          </a:prstGeom>
          <a:noFill/>
          <a:ln w="63500">
            <a:solidFill>
              <a:srgbClr val="7257C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87538" y="2578608"/>
            <a:ext cx="2236622" cy="0"/>
          </a:xfrm>
          <a:prstGeom prst="line">
            <a:avLst/>
          </a:prstGeom>
          <a:noFill/>
          <a:ln w="63500">
            <a:solidFill>
              <a:srgbClr val="E3E8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69480" y="274320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sofa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7973568" y="2816352"/>
            <a:ext cx="95098" cy="0"/>
          </a:xfrm>
          <a:prstGeom prst="line">
            <a:avLst/>
          </a:prstGeom>
          <a:noFill/>
          <a:ln w="63500">
            <a:solidFill>
              <a:srgbClr val="7257C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68666" y="2816352"/>
            <a:ext cx="2355494" cy="0"/>
          </a:xfrm>
          <a:prstGeom prst="line">
            <a:avLst/>
          </a:prstGeom>
          <a:noFill/>
          <a:ln w="63500">
            <a:solidFill>
              <a:srgbClr val="E3E8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9480" y="298094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7973568" y="3054096"/>
            <a:ext cx="95098" cy="0"/>
          </a:xfrm>
          <a:prstGeom prst="line">
            <a:avLst/>
          </a:prstGeom>
          <a:noFill/>
          <a:ln w="63500">
            <a:solidFill>
              <a:srgbClr val="7257C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68666" y="3054096"/>
            <a:ext cx="2355494" cy="0"/>
          </a:xfrm>
          <a:prstGeom prst="line">
            <a:avLst/>
          </a:prstGeom>
          <a:noFill/>
          <a:ln w="63500">
            <a:solidFill>
              <a:srgbClr val="E3E8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" y="4864608"/>
            <a:ext cx="1037844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is repeated prediction: choose a token, append it, predict again. This explains fluency — and also why confidence is not proof.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Tokenization and context window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process tokens, not words in the human sense.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868680" y="1600200"/>
            <a:ext cx="155448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214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contract renews automatically.”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971800" y="2240280"/>
            <a:ext cx="576072" cy="0"/>
          </a:xfrm>
          <a:prstGeom prst="line">
            <a:avLst/>
          </a:prstGeom>
          <a:noFill/>
          <a:ln w="1524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703320" y="2029968"/>
            <a:ext cx="786384" cy="384048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27448" y="2029968"/>
            <a:ext cx="786384" cy="384048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51576" y="2029968"/>
            <a:ext cx="786384" cy="384048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75704" y="2029968"/>
            <a:ext cx="786384" cy="384048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automatically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99832" y="2029968"/>
            <a:ext cx="786384" cy="384048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06840" y="2240280"/>
            <a:ext cx="521208" cy="0"/>
          </a:xfrm>
          <a:prstGeom prst="line">
            <a:avLst/>
          </a:prstGeom>
          <a:noFill/>
          <a:ln w="1524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9646920" y="1737360"/>
            <a:ext cx="1737360" cy="896112"/>
          </a:xfrm>
          <a:prstGeom prst="rect">
            <a:avLst/>
          </a:prstGeom>
          <a:solidFill>
            <a:srgbClr val="FFFF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window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can see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840480"/>
            <a:ext cx="10058400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Implications for work: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 documents need selection or retrieval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context usually costs more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forgotten context is not a reasoning failure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tokenization can split words/code unexpectedly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Embeddings: meaning as coordinates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turn text into vectors so similar meaning is near similar meaning.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868680" y="1417320"/>
            <a:ext cx="4160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→ vector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1600" y="2377440"/>
            <a:ext cx="137160" cy="137160"/>
          </a:xfrm>
          <a:prstGeom prst="ellipse">
            <a:avLst/>
          </a:prstGeom>
          <a:solidFill>
            <a:srgbClr val="3C90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235915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policy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1920240" y="2926080"/>
            <a:ext cx="137160" cy="137160"/>
          </a:xfrm>
          <a:prstGeom prst="ellipse">
            <a:avLst/>
          </a:prstGeom>
          <a:solidFill>
            <a:srgbClr val="3C90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67712" y="290779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rules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3657600" y="3749040"/>
            <a:ext cx="137160" cy="137160"/>
          </a:xfrm>
          <a:prstGeom prst="ellipse">
            <a:avLst/>
          </a:prstGeom>
          <a:solidFill>
            <a:srgbClr val="137D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5072" y="373075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number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3886200" y="2057400"/>
            <a:ext cx="137160" cy="137160"/>
          </a:xfrm>
          <a:prstGeom prst="ellipse">
            <a:avLst/>
          </a:prstGeom>
          <a:solidFill>
            <a:srgbClr val="7257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33672" y="203911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 pie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6400800" y="1417320"/>
            <a:ext cx="4297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75120" y="22402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semantic search: find related chunks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clustering: group similar tickets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recommendation: match user and item vectors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RAG: retrieve context before generating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5358384"/>
            <a:ext cx="10058400" cy="566928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similarity is useful, not perfect. It finds likely related meaning; it does not prove truth.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at a glance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text to updated token representations and next-token probabilities.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1783080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text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704088" y="239572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cat sat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mat”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23160" y="1965960"/>
            <a:ext cx="310896" cy="0"/>
          </a:xfrm>
          <a:prstGeom prst="line">
            <a:avLst/>
          </a:prstGeom>
          <a:noFill/>
          <a:ln w="1397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880360" y="1737360"/>
            <a:ext cx="1783080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990088" y="239572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· cat · sat · on · the · mat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1965960"/>
            <a:ext cx="310896" cy="0"/>
          </a:xfrm>
          <a:prstGeom prst="line">
            <a:avLst/>
          </a:prstGeom>
          <a:noFill/>
          <a:ln w="1397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166360" y="1737360"/>
            <a:ext cx="1783080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+ position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5276088" y="239572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for each token + position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995160" y="1965960"/>
            <a:ext cx="310896" cy="0"/>
          </a:xfrm>
          <a:prstGeom prst="line">
            <a:avLst/>
          </a:prstGeom>
          <a:noFill/>
          <a:ln w="1397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452360" y="1737360"/>
            <a:ext cx="1783080" cy="438912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blocks ×N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7562088" y="239572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+ MLP repeated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281160" y="1965960"/>
            <a:ext cx="310896" cy="0"/>
          </a:xfrm>
          <a:prstGeom prst="line">
            <a:avLst/>
          </a:prstGeom>
          <a:noFill/>
          <a:ln w="1397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9738360" y="1737360"/>
            <a:ext cx="1783080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probabilities</a:t>
            </a:r>
            <a:endParaRPr lang="en-US" sz="1140" dirty="0"/>
          </a:p>
        </p:txBody>
      </p:sp>
      <p:sp>
        <p:nvSpPr>
          <p:cNvPr id="22" name="Text 19"/>
          <p:cNvSpPr/>
          <p:nvPr/>
        </p:nvSpPr>
        <p:spPr>
          <a:xfrm>
            <a:off x="9848088" y="239572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over next token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60120" y="4828032"/>
            <a:ext cx="101955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transformer converts input tokens into richer contextual representations. The final representation is used to predict the next token.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 intuition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token learns which other tokens in context matter for its current representation.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1965960" y="1481328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417320" y="1874520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468880" y="1481328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417320" y="2286000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971800" y="1481328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417320" y="2697480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74720" y="1481328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417320" y="3108960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977640" y="1481328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417320" y="3520440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480560" y="1481328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417320" y="3931920"/>
            <a:ext cx="384048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965960" y="1874520"/>
            <a:ext cx="384048" cy="310896"/>
          </a:xfrm>
          <a:prstGeom prst="rect">
            <a:avLst/>
          </a:prstGeom>
          <a:solidFill>
            <a:srgbClr val="235A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68880" y="187452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71800" y="187452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74720" y="187452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77640" y="187452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80560" y="187452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65960" y="228600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68880" y="2286000"/>
            <a:ext cx="384048" cy="310896"/>
          </a:xfrm>
          <a:prstGeom prst="rect">
            <a:avLst/>
          </a:prstGeom>
          <a:solidFill>
            <a:srgbClr val="235A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971800" y="228600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74720" y="228600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77640" y="228600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80560" y="228600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965960" y="269748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468880" y="2697480"/>
            <a:ext cx="384048" cy="310896"/>
          </a:xfrm>
          <a:prstGeom prst="rect">
            <a:avLst/>
          </a:prstGeom>
          <a:solidFill>
            <a:srgbClr val="5E99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71800" y="2697480"/>
            <a:ext cx="384048" cy="310896"/>
          </a:xfrm>
          <a:prstGeom prst="rect">
            <a:avLst/>
          </a:prstGeom>
          <a:solidFill>
            <a:srgbClr val="235A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74720" y="269748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977640" y="269748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80560" y="269748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965960" y="310896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468880" y="310896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971800" y="310896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74720" y="3108960"/>
            <a:ext cx="384048" cy="310896"/>
          </a:xfrm>
          <a:prstGeom prst="rect">
            <a:avLst/>
          </a:prstGeom>
          <a:solidFill>
            <a:srgbClr val="235A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77640" y="310896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480560" y="310896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965960" y="352044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468880" y="352044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971800" y="352044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474720" y="352044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977640" y="3520440"/>
            <a:ext cx="384048" cy="310896"/>
          </a:xfrm>
          <a:prstGeom prst="rect">
            <a:avLst/>
          </a:prstGeom>
          <a:solidFill>
            <a:srgbClr val="235A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480560" y="352044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965960" y="393192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468880" y="3931920"/>
            <a:ext cx="384048" cy="310896"/>
          </a:xfrm>
          <a:prstGeom prst="rect">
            <a:avLst/>
          </a:prstGeom>
          <a:solidFill>
            <a:srgbClr val="5E99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971800" y="393192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474720" y="3931920"/>
            <a:ext cx="384048" cy="310896"/>
          </a:xfrm>
          <a:prstGeom prst="rect">
            <a:avLst/>
          </a:prstGeom>
          <a:solidFill>
            <a:srgbClr val="E7EF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977640" y="3931920"/>
            <a:ext cx="384048" cy="310896"/>
          </a:xfrm>
          <a:prstGeom prst="rect">
            <a:avLst/>
          </a:prstGeom>
          <a:solidFill>
            <a:srgbClr val="A9C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480560" y="3931920"/>
            <a:ext cx="384048" cy="310896"/>
          </a:xfrm>
          <a:prstGeom prst="rect">
            <a:avLst/>
          </a:prstGeom>
          <a:solidFill>
            <a:srgbClr val="235A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6692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= current token asks “what do I need?”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56692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= each token offers a match signal</a:t>
            </a:r>
            <a:endParaRPr lang="en-US" sz="1350" dirty="0"/>
          </a:p>
        </p:txBody>
      </p:sp>
      <p:sp>
        <p:nvSpPr>
          <p:cNvPr id="59" name="Text 56"/>
          <p:cNvSpPr/>
          <p:nvPr/>
        </p:nvSpPr>
        <p:spPr>
          <a:xfrm>
            <a:off x="566928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= information that gets mixed into the result</a:t>
            </a:r>
            <a:endParaRPr lang="en-US" sz="1350" dirty="0"/>
          </a:p>
        </p:txBody>
      </p:sp>
      <p:sp>
        <p:nvSpPr>
          <p:cNvPr id="60" name="Text 57"/>
          <p:cNvSpPr/>
          <p:nvPr/>
        </p:nvSpPr>
        <p:spPr>
          <a:xfrm>
            <a:off x="960120" y="5166360"/>
            <a:ext cx="1019556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not database lookup. It is learned weighting over token representations.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one transformer block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 changes context; the feed-forward network processes each updated token representation.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58368" y="2743200"/>
            <a:ext cx="73152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417320" y="3026664"/>
            <a:ext cx="411480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1874520" y="2743200"/>
            <a:ext cx="841248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3026664"/>
            <a:ext cx="411480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200400" y="2743200"/>
            <a:ext cx="1325880" cy="566928"/>
          </a:xfrm>
          <a:prstGeom prst="rect">
            <a:avLst/>
          </a:prstGeom>
          <a:solidFill>
            <a:srgbClr val="F5F3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53712" y="3026664"/>
            <a:ext cx="384048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983480" y="2843784"/>
            <a:ext cx="347472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358384" y="3026664"/>
            <a:ext cx="448056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852160" y="2743200"/>
            <a:ext cx="841248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720840" y="3026664"/>
            <a:ext cx="411480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7178040" y="2743200"/>
            <a:ext cx="1325880" cy="566928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Feed-Forward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(MLP)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8531352" y="3026664"/>
            <a:ext cx="384048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8961120" y="2843784"/>
            <a:ext cx="347472" cy="347472"/>
          </a:xfrm>
          <a:prstGeom prst="rect">
            <a:avLst/>
          </a:prstGeom>
          <a:solidFill>
            <a:srgbClr val="FFFFFF"/>
          </a:solidFill>
          <a:ln w="11430">
            <a:solidFill>
              <a:srgbClr val="725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345168" y="3026664"/>
            <a:ext cx="576072" cy="0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9966960" y="2743200"/>
            <a:ext cx="73152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463040" y="2423160"/>
            <a:ext cx="3694176" cy="0"/>
          </a:xfrm>
          <a:prstGeom prst="line">
            <a:avLst/>
          </a:prstGeom>
          <a:noFill/>
          <a:ln w="11430">
            <a:solidFill>
              <a:srgbClr val="7257C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57216" y="2423160"/>
            <a:ext cx="0" cy="365760"/>
          </a:xfrm>
          <a:prstGeom prst="line">
            <a:avLst/>
          </a:prstGeom>
          <a:noFill/>
          <a:ln w="1143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2606040" y="221284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connection</a:t>
            </a:r>
            <a:endParaRPr lang="en-US" sz="770" dirty="0"/>
          </a:p>
        </p:txBody>
      </p:sp>
      <p:sp>
        <p:nvSpPr>
          <p:cNvPr id="27" name="Shape 24"/>
          <p:cNvSpPr/>
          <p:nvPr/>
        </p:nvSpPr>
        <p:spPr>
          <a:xfrm>
            <a:off x="5413248" y="2148840"/>
            <a:ext cx="3721608" cy="0"/>
          </a:xfrm>
          <a:prstGeom prst="line">
            <a:avLst/>
          </a:prstGeom>
          <a:noFill/>
          <a:ln w="11430">
            <a:solidFill>
              <a:srgbClr val="7257C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34856" y="2148840"/>
            <a:ext cx="0" cy="640080"/>
          </a:xfrm>
          <a:prstGeom prst="line">
            <a:avLst/>
          </a:prstGeom>
          <a:noFill/>
          <a:ln w="1143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6492240" y="19385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connection</a:t>
            </a:r>
            <a:endParaRPr lang="en-US" sz="770" dirty="0"/>
          </a:p>
        </p:txBody>
      </p:sp>
      <p:sp>
        <p:nvSpPr>
          <p:cNvPr id="30" name="Text 27"/>
          <p:cNvSpPr/>
          <p:nvPr/>
        </p:nvSpPr>
        <p:spPr>
          <a:xfrm>
            <a:off x="960120" y="5029200"/>
            <a:ext cx="101955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remember: attention mixes context across tokens; MLP transforms each token; residuals keep previous information available.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5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LLMs are useful — and why they fail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mechanism explains both capability and risk.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257C7"/>
          </a:solidFill>
          <a:ln w="12700">
            <a:solidFill>
              <a:srgbClr val="7257C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868680" y="1234440"/>
            <a:ext cx="146304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60320" y="12984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broad statistical patterns across language, code and structured text.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1984248"/>
            <a:ext cx="146304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60320" y="20482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adapt to a task from instructions and examples in context.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2734056"/>
            <a:ext cx="1463040" cy="384048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560320" y="279806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generate plausible text without verified facts.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" y="3483864"/>
            <a:ext cx="1463040" cy="384048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560320" y="35478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follow malicious instructions embedded in untrusted content.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68680" y="4233672"/>
            <a:ext cx="1463040" cy="384048"/>
          </a:xfrm>
          <a:prstGeom prst="rect">
            <a:avLst/>
          </a:prstGeom>
          <a:solidFill>
            <a:srgbClr val="EFF6FF"/>
          </a:solidFill>
          <a:ln w="11430">
            <a:solidFill>
              <a:srgbClr val="2F66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60320" y="429768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trusted context, limit tools, test outputs and require approval.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teach LLMs as magic. Teach them as powerful pattern models that need context, workflow and control.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GenAI workflow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answer is an intermediate artifact, not the workflow.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906E"/>
          </a:solidFill>
          <a:ln w="12700">
            <a:solidFill>
              <a:srgbClr val="3C90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914400" y="1828800"/>
            <a:ext cx="187452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context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task, audience, data, constraints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2834640" y="2084832"/>
            <a:ext cx="594360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566160" y="1828800"/>
            <a:ext cx="187452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5760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draft output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5486400" y="2084832"/>
            <a:ext cx="594360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6217920" y="1828800"/>
            <a:ext cx="1874520" cy="530352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0936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facts, tests, policies, citations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8138160" y="2084832"/>
            <a:ext cx="594360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8869680" y="1828800"/>
            <a:ext cx="187452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 workflow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961120" y="24871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ticket, report, PR, email, decision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8961120" y="3154680"/>
            <a:ext cx="-7132320" cy="1005840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0" y="4160520"/>
            <a:ext cx="0" cy="-1508760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3657600" y="4023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iterate: refine prompt, add context, verify again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60120" y="5257800"/>
            <a:ext cx="1019556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must decide what evidence is required before the output becomes useful.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Grounding and RAG: give the model the right evidence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is often better than asking the model to remember.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906E"/>
          </a:solidFill>
          <a:ln w="12700">
            <a:solidFill>
              <a:srgbClr val="3C90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169164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question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713232" y="226771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our travel policy say?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377440" y="1874520"/>
            <a:ext cx="347472" cy="0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880360" y="1645920"/>
            <a:ext cx="1691640" cy="457200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953512" y="226771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relevant policy chunks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617720" y="1874520"/>
            <a:ext cx="347472" cy="0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120640" y="1645920"/>
            <a:ext cx="169164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 prompt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5193792" y="226771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+ trusted context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858000" y="1874520"/>
            <a:ext cx="347472" cy="0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360920" y="1645920"/>
            <a:ext cx="169164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answer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7434072" y="226771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with citations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9098280" y="1874520"/>
            <a:ext cx="347472" cy="0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9601200" y="1645920"/>
            <a:ext cx="169164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140" dirty="0"/>
          </a:p>
        </p:txBody>
      </p:sp>
      <p:sp>
        <p:nvSpPr>
          <p:cNvPr id="22" name="Text 19"/>
          <p:cNvSpPr/>
          <p:nvPr/>
        </p:nvSpPr>
        <p:spPr>
          <a:xfrm>
            <a:off x="9674352" y="226771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source and constraints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914400" y="4983480"/>
            <a:ext cx="1028700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reduces unsupported answers when the retrieved source is relevant and the workflow forces citation/checking. It does not remove the need to evaluate output.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 is requirements writing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prompt states the task, context, constraints and output contract.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906E"/>
          </a:solidFill>
          <a:ln w="12700">
            <a:solidFill>
              <a:srgbClr val="3C90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777240" y="1645920"/>
            <a:ext cx="164592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0392" y="22677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990088" y="1645920"/>
            <a:ext cx="164592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063240" y="22677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to use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02936" y="1645920"/>
            <a:ext cx="164592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276088" y="22677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not to do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15784" y="1645920"/>
            <a:ext cx="164592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format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88936" y="22677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result must look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628632" y="1645920"/>
            <a:ext cx="164592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701784" y="22677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verify or flag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400" y="3520440"/>
            <a:ext cx="4206240" cy="475488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prompt: “summarize this.”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0" y="3520440"/>
            <a:ext cx="5440680" cy="713232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prompt: “Using only the policy below, list confirmed rules, exceptions, unresolved questions and risks. Do not invent missing information.”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assistant to agent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autonomy changes the control requirements.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906E"/>
          </a:solidFill>
          <a:ln w="12700">
            <a:solidFill>
              <a:srgbClr val="3C90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777240" y="1691640"/>
            <a:ext cx="2057400" cy="51206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86968" y="23957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answers, summarizes, drafts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886968" y="3063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drives every step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2898648" y="1956816"/>
            <a:ext cx="512064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566160" y="1691640"/>
            <a:ext cx="2057400" cy="51206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Tool-using assistant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3675888" y="23957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search, data, APIs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3675888" y="3063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directs tool use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687568" y="1956816"/>
            <a:ext cx="512064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6355080" y="1691640"/>
            <a:ext cx="2057400" cy="512064"/>
          </a:xfrm>
          <a:prstGeom prst="rect">
            <a:avLst/>
          </a:prstGeom>
          <a:solidFill>
            <a:srgbClr val="ECFDF5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automation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6464808" y="23957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repeatable steps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6464808" y="3063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oversees workflow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8476488" y="1956816"/>
            <a:ext cx="512064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9144000" y="1691640"/>
            <a:ext cx="2057400" cy="512064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9253728" y="23957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 and acts across tools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9253728" y="3063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sets goals + guardrails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914400" y="4315968"/>
            <a:ext cx="10012680" cy="0"/>
          </a:xfrm>
          <a:prstGeom prst="line">
            <a:avLst/>
          </a:prstGeom>
          <a:noFill/>
          <a:ln w="76200">
            <a:solidFill>
              <a:srgbClr val="3C90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6085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autonomy / lower risk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366760" y="46085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autonomy / stronger controls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60120" y="5285232"/>
            <a:ext cx="1019556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is not a synonym for “better”. It means more steps can happen without direct human instruction.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7B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and controls matrix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should map to concrete failure modes.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77B1E"/>
          </a:solidFill>
          <a:ln w="12700">
            <a:solidFill>
              <a:srgbClr val="B77B1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77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822960" y="1325880"/>
            <a:ext cx="210312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926080" y="1325880"/>
            <a:ext cx="283464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0720" y="1325880"/>
            <a:ext cx="512064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examples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1783080"/>
            <a:ext cx="210312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2926080" y="1783080"/>
            <a:ext cx="2834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fabricated or unsupported output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1783080"/>
            <a:ext cx="5120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grounding, source checks, eval sets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2441448"/>
            <a:ext cx="210312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leakage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2926080" y="2441448"/>
            <a:ext cx="2834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data exposed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2441448"/>
            <a:ext cx="5120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control, redaction, private deployment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3099816"/>
            <a:ext cx="210312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2926080" y="3099816"/>
            <a:ext cx="2834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untrusted content gives instructions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60720" y="3099816"/>
            <a:ext cx="5120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filtering, sandboxing, tool permissions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" y="3758184"/>
            <a:ext cx="210312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/ unfairness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2926080" y="3758184"/>
            <a:ext cx="2834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quality or harmful output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3758184"/>
            <a:ext cx="5120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data, testing, human review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4416552"/>
            <a:ext cx="210312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/ latency</a:t>
            </a:r>
            <a:endParaRPr lang="en-US" sz="1040" dirty="0"/>
          </a:p>
        </p:txBody>
      </p:sp>
      <p:sp>
        <p:nvSpPr>
          <p:cNvPr id="25" name="Text 22"/>
          <p:cNvSpPr/>
          <p:nvPr/>
        </p:nvSpPr>
        <p:spPr>
          <a:xfrm>
            <a:off x="2926080" y="4416552"/>
            <a:ext cx="2834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spend or slow workflow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60720" y="4416552"/>
            <a:ext cx="512064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limits, caching, model selection, monitoring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60120" y="5440680"/>
            <a:ext cx="1019556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not “ban AI”. The answer is match the control to the risk and the workflow.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7B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 is a design choice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people where judgment, accountability or policy interpretation matters.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77B1E"/>
          </a:solidFill>
          <a:ln w="12700">
            <a:solidFill>
              <a:srgbClr val="B77B1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77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5029200" y="2286000"/>
            <a:ext cx="1005840" cy="1005840"/>
          </a:xfrm>
          <a:prstGeom prst="ellipse">
            <a:avLst/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02352" y="2624328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judgment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1828800" y="1554480"/>
            <a:ext cx="22860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2F66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65960" y="1673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993392" y="198424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and approval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4160520" y="1956816"/>
            <a:ext cx="822960" cy="832104"/>
          </a:xfrm>
          <a:prstGeom prst="line">
            <a:avLst/>
          </a:prstGeom>
          <a:noFill/>
          <a:ln w="12700">
            <a:solidFill>
              <a:srgbClr val="2F66C9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828800" y="4023360"/>
            <a:ext cx="22860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137D7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65960" y="4142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37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guardrails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1993392" y="445312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filters, permissions, sandbox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4160520" y="4425696"/>
            <a:ext cx="822960" cy="-1636776"/>
          </a:xfrm>
          <a:prstGeom prst="line">
            <a:avLst/>
          </a:prstGeom>
          <a:noFill/>
          <a:ln w="12700">
            <a:solidFill>
              <a:srgbClr val="137D78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229600" y="4023360"/>
            <a:ext cx="22860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7257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6760" y="4142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725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8394192" y="445312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quality, cost, incidents</a:t>
            </a:r>
            <a:endParaRPr lang="en-US" sz="890" dirty="0"/>
          </a:p>
        </p:txBody>
      </p:sp>
      <p:sp>
        <p:nvSpPr>
          <p:cNvPr id="22" name="Shape 19"/>
          <p:cNvSpPr/>
          <p:nvPr/>
        </p:nvSpPr>
        <p:spPr>
          <a:xfrm>
            <a:off x="8183880" y="4425696"/>
            <a:ext cx="-2103120" cy="-1636776"/>
          </a:xfrm>
          <a:prstGeom prst="line">
            <a:avLst/>
          </a:prstGeom>
          <a:noFill/>
          <a:ln w="12700">
            <a:solidFill>
              <a:srgbClr val="7257C7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229600" y="1554480"/>
            <a:ext cx="22860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3C90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1673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8394192" y="198424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from mistakes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8183880" y="1956816"/>
            <a:ext cx="-2103120" cy="832104"/>
          </a:xfrm>
          <a:prstGeom prst="line">
            <a:avLst/>
          </a:prstGeom>
          <a:noFill/>
          <a:ln w="1270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960120" y="5486400"/>
            <a:ext cx="10195560" cy="566928"/>
          </a:xfrm>
          <a:prstGeom prst="rect">
            <a:avLst/>
          </a:prstGeom>
          <a:solidFill>
            <a:srgbClr val="FFF7ED"/>
          </a:solidFill>
          <a:ln w="11430">
            <a:solidFill>
              <a:srgbClr val="E5B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add “human review” as a sticker. Specify who reviews, when, against what criteria, and what happens on rejection.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7B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AI layers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AI is a stack: capability, data, workflow and governance.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77B1E"/>
          </a:solidFill>
          <a:ln w="12700">
            <a:solidFill>
              <a:srgbClr val="B77B1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77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914400" y="1234440"/>
            <a:ext cx="2926080" cy="420624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60520" y="1234440"/>
            <a:ext cx="630936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assistants, agents, embedded AI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914400" y="1892808"/>
            <a:ext cx="2926080" cy="420624"/>
          </a:xfrm>
          <a:prstGeom prst="rect">
            <a:avLst/>
          </a:prstGeom>
          <a:solidFill>
            <a:srgbClr val="ECFDF5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orchestration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60520" y="1892808"/>
            <a:ext cx="630936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tools, APIs, queues, approvals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14400" y="2551176"/>
            <a:ext cx="2926080" cy="420624"/>
          </a:xfrm>
          <a:prstGeom prst="rect">
            <a:avLst/>
          </a:prstGeom>
          <a:solidFill>
            <a:srgbClr val="EFF6FF"/>
          </a:solidFill>
          <a:ln w="11430">
            <a:solidFill>
              <a:srgbClr val="2F66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layer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60520" y="2551176"/>
            <a:ext cx="630936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models, routing, fine-tuning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914400" y="3209544"/>
            <a:ext cx="2926080" cy="420624"/>
          </a:xfrm>
          <a:prstGeom prst="rect">
            <a:avLst/>
          </a:prstGeom>
          <a:solidFill>
            <a:srgbClr val="EFF6FF"/>
          </a:solidFill>
          <a:ln w="11430">
            <a:solidFill>
              <a:srgbClr val="2F66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retrieval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160520" y="3209544"/>
            <a:ext cx="630936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documents, permissions, vector search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914400" y="3867912"/>
            <a:ext cx="292608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+ governance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60520" y="3867912"/>
            <a:ext cx="630936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evals, cost, risk, compliance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914400" y="4526280"/>
            <a:ext cx="292608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60520" y="4526280"/>
            <a:ext cx="630936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cloud, security, network, identity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960120" y="5486400"/>
            <a:ext cx="1019556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chatbot demo is one layer. Enterprise adoption requires the stack below it.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demo: bad prompt → controlled workflow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demo magic. Demo the improvement process.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906E"/>
          </a:solidFill>
          <a:ln w="12700">
            <a:solidFill>
              <a:srgbClr val="3C90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85800" y="1554480"/>
            <a:ext cx="2103120" cy="329184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1993392"/>
            <a:ext cx="210312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prompt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" y="2615184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“Summarize this policy.”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834640" y="2176272"/>
            <a:ext cx="457200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429000" y="1554480"/>
            <a:ext cx="2103120" cy="329184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1993392"/>
            <a:ext cx="210312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role + audience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38728" y="2615184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“Explain for a project manager.”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5577840" y="2176272"/>
            <a:ext cx="457200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6172200" y="1554480"/>
            <a:ext cx="2103120" cy="329184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72200" y="1993392"/>
            <a:ext cx="210312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output contract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1928" y="2615184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rules / exceptions / open questions / risks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8321040" y="2176272"/>
            <a:ext cx="457200" cy="0"/>
          </a:xfrm>
          <a:prstGeom prst="line">
            <a:avLst/>
          </a:prstGeom>
          <a:noFill/>
          <a:ln w="13970">
            <a:solidFill>
              <a:srgbClr val="3C906E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8915400" y="1554480"/>
            <a:ext cx="2103120" cy="329184"/>
          </a:xfrm>
          <a:prstGeom prst="rect">
            <a:avLst/>
          </a:prstGeom>
          <a:solidFill>
            <a:srgbClr val="FFFFFF"/>
          </a:solidFill>
          <a:ln w="11430">
            <a:solidFill>
              <a:srgbClr val="3C90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915400" y="1993392"/>
            <a:ext cx="2103120" cy="38404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verification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25128" y="2615184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 source lines, flag missing info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960120" y="5212080"/>
            <a:ext cx="101955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rule: after each round, ask “what got better, what is still unsafe, what evidence is missing?”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Workshop: classify and control a use case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do not watch passively; they practice the decision lens.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906E"/>
          </a:solidFill>
          <a:ln w="12700">
            <a:solidFill>
              <a:srgbClr val="3C90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777240" y="1490472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5499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0160" y="1463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1280160" y="18013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workflow from work or study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80560" y="1490472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15499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83480" y="1463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4983480" y="18013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/ generate / act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83880" y="1490472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15499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86800" y="14630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inputs</a:t>
            </a:r>
            <a:endParaRPr lang="en-US" sz="1280" dirty="0"/>
          </a:p>
        </p:txBody>
      </p:sp>
      <p:sp>
        <p:nvSpPr>
          <p:cNvPr id="20" name="Text 17"/>
          <p:cNvSpPr/>
          <p:nvPr/>
        </p:nvSpPr>
        <p:spPr>
          <a:xfrm>
            <a:off x="8686800" y="18013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documents, tools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7240" y="2907792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29672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28016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output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1280160" y="3218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+ success criteria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480560" y="2907792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80560" y="29672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8348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risks</a:t>
            </a:r>
            <a:endParaRPr lang="en-US" sz="1280" dirty="0"/>
          </a:p>
        </p:txBody>
      </p:sp>
      <p:sp>
        <p:nvSpPr>
          <p:cNvPr id="28" name="Text 25"/>
          <p:cNvSpPr/>
          <p:nvPr/>
        </p:nvSpPr>
        <p:spPr>
          <a:xfrm>
            <a:off x="4983480" y="3218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privacy, hallucination, action risk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183880" y="2907792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29672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8680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controls</a:t>
            </a:r>
            <a:endParaRPr lang="en-US" sz="1280" dirty="0"/>
          </a:p>
        </p:txBody>
      </p:sp>
      <p:sp>
        <p:nvSpPr>
          <p:cNvPr id="32" name="Text 29"/>
          <p:cNvSpPr/>
          <p:nvPr/>
        </p:nvSpPr>
        <p:spPr>
          <a:xfrm>
            <a:off x="8686800" y="3218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review, sources, permissions, tests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960120" y="5166360"/>
            <a:ext cx="10195560" cy="65836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one small use-case card. Not a business plan. A clear thinking artifact.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90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Homework: one-page AI use-case memo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assignment that checks understanding.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C906E"/>
          </a:solidFill>
          <a:ln w="12700">
            <a:solidFill>
              <a:srgbClr val="3C90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C9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777240" y="1325880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53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914400" y="1764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real process are you improving?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4480560" y="1325880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453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type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4617720" y="1764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rule, ML, GenAI, agent?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183880" y="1325880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1453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/ outputs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8321040" y="1764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goes in, what comes out?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77240" y="2679192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807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</a:t>
            </a:r>
            <a:endParaRPr lang="en-US" sz="1280" dirty="0"/>
          </a:p>
        </p:txBody>
      </p:sp>
      <p:sp>
        <p:nvSpPr>
          <p:cNvPr id="20" name="Text 17"/>
          <p:cNvSpPr/>
          <p:nvPr/>
        </p:nvSpPr>
        <p:spPr>
          <a:xfrm>
            <a:off x="914400" y="3118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go wrong?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480560" y="2679192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2807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4617720" y="3118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you verify and approve?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183880" y="2679192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6DF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21040" y="2807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automate</a:t>
            </a:r>
            <a:endParaRPr lang="en-US" sz="1280" dirty="0"/>
          </a:p>
        </p:txBody>
      </p:sp>
      <p:sp>
        <p:nvSpPr>
          <p:cNvPr id="26" name="Text 23"/>
          <p:cNvSpPr/>
          <p:nvPr/>
        </p:nvSpPr>
        <p:spPr>
          <a:xfrm>
            <a:off x="8321040" y="3118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humans stay in control?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960120" y="5074920"/>
            <a:ext cx="1019556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Submission: 300–500 words or one table. The goal is problem framing, not perfect solution design.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6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18872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207008" y="6583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learners should leave with.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92256" cy="0"/>
          </a:xfrm>
          <a:prstGeom prst="line">
            <a:avLst/>
          </a:prstGeom>
          <a:noFill/>
          <a:ln w="10160">
            <a:solidFill>
              <a:srgbClr val="D6DF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6C9"/>
          </a:solidFill>
          <a:ln w="12700">
            <a:solidFill>
              <a:srgbClr val="2F66C9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6062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F6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822960" y="1325880"/>
            <a:ext cx="347472" cy="347472"/>
          </a:xfrm>
          <a:prstGeom prst="ellipse">
            <a:avLst/>
          </a:prstGeom>
          <a:solidFill>
            <a:srgbClr val="2F66C9"/>
          </a:solidFill>
          <a:ln w="6350">
            <a:solidFill>
              <a:srgbClr val="2F66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3853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25880" y="1289304"/>
            <a:ext cx="46634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a family of systems. Always classify the job: predict, generate or act.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822960" y="2468880"/>
            <a:ext cx="347472" cy="347472"/>
          </a:xfrm>
          <a:prstGeom prst="ellipse">
            <a:avLst/>
          </a:prstGeom>
          <a:solidFill>
            <a:srgbClr val="2F66C9"/>
          </a:solidFill>
          <a:ln w="6350">
            <a:solidFill>
              <a:srgbClr val="2F66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5283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325880" y="2432304"/>
            <a:ext cx="46634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ML learns parameters from data; inference uses the trained model on new inputs.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822960" y="3611880"/>
            <a:ext cx="347472" cy="347472"/>
          </a:xfrm>
          <a:prstGeom prst="ellipse">
            <a:avLst/>
          </a:prstGeom>
          <a:solidFill>
            <a:srgbClr val="2F66C9"/>
          </a:solidFill>
          <a:ln w="6350">
            <a:solidFill>
              <a:srgbClr val="2F66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6713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6634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Evaluation, deployment and monitoring are part of ML, not optional extras.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355080" y="1325880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13853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1289304"/>
            <a:ext cx="46634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 use tokens, embeddings, attention and repeated blocks to model context.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6355080" y="2468880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25283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0" y="2432304"/>
            <a:ext cx="46634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output needs grounding, verification and workflow integration before it is useful.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6355080" y="3611880"/>
            <a:ext cx="347472" cy="347472"/>
          </a:xfrm>
          <a:prstGeom prst="ellipse">
            <a:avLst/>
          </a:prstGeom>
          <a:solidFill>
            <a:srgbClr val="3C906E"/>
          </a:solidFill>
          <a:ln w="6350">
            <a:solidFill>
              <a:srgbClr val="3C90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36713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58000" y="3575304"/>
            <a:ext cx="46634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autonomy means more controls: permissions, logging, approval and rollback.</a:t>
            </a:r>
            <a:endParaRPr lang="en-US" sz="1180" dirty="0"/>
          </a:p>
        </p:txBody>
      </p:sp>
      <p:sp>
        <p:nvSpPr>
          <p:cNvPr id="27" name="Text 24"/>
          <p:cNvSpPr/>
          <p:nvPr/>
        </p:nvSpPr>
        <p:spPr>
          <a:xfrm>
            <a:off x="960120" y="5257800"/>
            <a:ext cx="10195560" cy="566928"/>
          </a:xfrm>
          <a:prstGeom prst="rect">
            <a:avLst/>
          </a:prstGeom>
          <a:solidFill>
            <a:srgbClr val="ECFDF5"/>
          </a:solidFill>
          <a:ln w="11430">
            <a:solidFill>
              <a:srgbClr val="B6E2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module: LLM fundamentals — tokens, context, prompting, embeddings and grounding.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GenAI Basics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Basics — Lecture 01 — AI, ML and Generative AI Overview — v7 Audited</dc:title>
  <dc:subject>Lecture 01 — AI, ML and Generative AI Overview</dc:subject>
  <dc:creator>Ihar Rubanovich</dc:creator>
  <cp:lastModifiedBy>Ihar Rubanovich</cp:lastModifiedBy>
  <cp:revision>1</cp:revision>
  <dcterms:created xsi:type="dcterms:W3CDTF">2026-09-19T16:04:49Z</dcterms:created>
  <dcterms:modified xsi:type="dcterms:W3CDTF">2026-09-19T16:04:49Z</dcterms:modified>
</cp:coreProperties>
</file>