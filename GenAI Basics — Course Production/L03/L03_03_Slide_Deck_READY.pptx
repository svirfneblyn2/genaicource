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" y="4572"/>
            <a:ext cx="12182551" cy="68488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" y="4572"/>
            <a:ext cx="5664708" cy="6848856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109728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612647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8FC"/>
                </a:solidFill>
                <a:latin typeface="Aptos"/>
              </a:rPr>
              <a:t>LLM API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5DABF"/>
                </a:solidFill>
                <a:latin typeface="Aptos"/>
              </a:rPr>
              <a:t>Streaming and Structured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78608"/>
            <a:ext cx="4480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Aptos"/>
              </a:rPr>
              <a:t>Build a reliable boundary between probabilistic model output and deterministic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CD0"/>
                </a:solidFill>
                <a:latin typeface="Aptos"/>
              </a:rPr>
              <a:t>REQUEST  </a:t>
            </a:r>
            <a:r>
              <a:rPr sz="1100" b="1">
                <a:solidFill>
                  <a:srgbClr val="4CA1FF"/>
                </a:solidFill>
                <a:latin typeface="Aptos"/>
              </a:rPr>
              <a:t>→</a:t>
            </a:r>
            <a:r>
              <a:rPr sz="1100" b="1">
                <a:solidFill>
                  <a:srgbClr val="AABCD0"/>
                </a:solidFill>
                <a:latin typeface="Aptos"/>
              </a:rPr>
              <a:t>  STREAM  </a:t>
            </a:r>
            <a:r>
              <a:rPr sz="1100" b="1">
                <a:solidFill>
                  <a:srgbClr val="4CA1FF"/>
                </a:solidFill>
                <a:latin typeface="Aptos"/>
              </a:rPr>
              <a:t>→</a:t>
            </a:r>
            <a:r>
              <a:rPr sz="1100" b="1">
                <a:solidFill>
                  <a:srgbClr val="AABCD0"/>
                </a:solidFill>
                <a:latin typeface="Aptos"/>
              </a:rPr>
              <a:t>  SCHEMA  </a:t>
            </a:r>
            <a:r>
              <a:rPr sz="1100" b="1">
                <a:solidFill>
                  <a:srgbClr val="4CA1FF"/>
                </a:solidFill>
                <a:latin typeface="Aptos"/>
              </a:rPr>
              <a:t>→</a:t>
            </a:r>
            <a:r>
              <a:rPr sz="1100" b="1">
                <a:solidFill>
                  <a:srgbClr val="AABCD0"/>
                </a:solidFill>
                <a:latin typeface="Aptos"/>
              </a:rPr>
              <a:t> 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2648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CD0"/>
                </a:solidFill>
                <a:latin typeface="Aptos"/>
              </a:rPr>
              <a:t>GenAI Basics  •  refreshed 2026-09-14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A good answer can still be a bad API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CD0"/>
                </a:solidFill>
                <a:latin typeface="Aptos"/>
              </a:rPr>
              <a:t>Software needs a contract, not just plausible prose.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4983480" cy="3474720"/>
          </a:xfrm>
          <a:prstGeom prst="roundRect">
            <a:avLst/>
          </a:prstGeom>
          <a:solidFill>
            <a:srgbClr val="14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Human-facing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ABCD0"/>
                </a:solidFill>
                <a:latin typeface="Aptos"/>
              </a:rPr>
              <a:t>“This looks like a serious checkout bug. The team should probably investigate before Friday.”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00600"/>
            <a:ext cx="109728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864608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Readable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4800600"/>
            <a:ext cx="109728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4864608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Flexible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800600"/>
            <a:ext cx="1417320" cy="347472"/>
          </a:xfrm>
          <a:prstGeom prst="roundRect">
            <a:avLst/>
          </a:prstGeom>
          <a:solidFill>
            <a:srgbClr val="E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4864608"/>
            <a:ext cx="12710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Hard to route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4983480" cy="3474720"/>
          </a:xfrm>
          <a:prstGeom prst="roundRect">
            <a:avLst/>
          </a:prstGeom>
          <a:solidFill>
            <a:srgbClr val="14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2402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Application-facing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2788920"/>
            <a:ext cx="4251960" cy="169164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2916936"/>
            <a:ext cx="393192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category: 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3275838"/>
            <a:ext cx="393192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priority: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634740"/>
            <a:ext cx="393192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summary: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993641"/>
            <a:ext cx="393192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needs_human_review: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800600"/>
            <a:ext cx="914400" cy="347472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864608"/>
            <a:ext cx="768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Typed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00600"/>
            <a:ext cx="109728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4864608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Validated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800600"/>
            <a:ext cx="109728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4864608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Routable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SESSION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We build the boundary in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CD0"/>
                </a:solidFill>
                <a:latin typeface="Aptos"/>
              </a:rPr>
              <a:t>explicit task + config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52728" y="2633472"/>
            <a:ext cx="144475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71800" y="2377440"/>
            <a:ext cx="502920" cy="502920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487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290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CD0"/>
                </a:solidFill>
                <a:latin typeface="Aptos"/>
              </a:rPr>
              <a:t>events + latency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38728" y="2633472"/>
            <a:ext cx="144475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57800" y="2377440"/>
            <a:ext cx="502920" cy="502920"/>
          </a:xfrm>
          <a:prstGeom prst="ellipse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487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4290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CD0"/>
                </a:solidFill>
                <a:latin typeface="Aptos"/>
              </a:rPr>
              <a:t>typed 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24728" y="2633472"/>
            <a:ext cx="144475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43800" y="2377440"/>
            <a:ext cx="502920" cy="502920"/>
          </a:xfrm>
          <a:prstGeom prst="ellipse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487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4290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CD0"/>
                </a:solidFill>
                <a:latin typeface="Aptos"/>
              </a:rPr>
              <a:t>shape ≠ truth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10727" y="2633472"/>
            <a:ext cx="1444753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0" y="2377440"/>
            <a:ext cx="502920" cy="502920"/>
          </a:xfrm>
          <a:prstGeom prst="ellipse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487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8FC"/>
                </a:solidFill>
                <a:latin typeface="Aptos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4290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CD0"/>
                </a:solidFill>
                <a:latin typeface="Aptos"/>
              </a:rPr>
              <a:t>failures +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10789920" cy="749808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1FF"/>
                </a:solidFill>
                <a:latin typeface="Aptos"/>
              </a:rPr>
              <a:t>Exit condition: </a:t>
            </a:r>
            <a:r>
              <a:rPr sz="1400" b="0">
                <a:solidFill>
                  <a:srgbClr val="F4F8FC"/>
                </a:solidFill>
                <a:latin typeface="Aptos"/>
              </a:rPr>
              <a:t>you can explain what the model call guarantees, what it does not guarantee, and what evidence remains when it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The SDK is a typed client — not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68833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Your Python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944368"/>
            <a:ext cx="1545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task + policy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9152" y="2971800"/>
            <a:ext cx="548639" cy="0"/>
          </a:xfrm>
          <a:prstGeom prst="line">
            <a:avLst/>
          </a:prstGeom>
          <a:ln w="38100">
            <a:solidFill>
              <a:srgbClr val="4CA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56032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68833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OpenAI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944368"/>
            <a:ext cx="1545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types + HTTP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90872" y="2971800"/>
            <a:ext cx="548640" cy="0"/>
          </a:xfrm>
          <a:prstGeom prst="line">
            <a:avLst/>
          </a:prstGeom>
          <a:ln w="38100">
            <a:solidFill>
              <a:srgbClr val="45D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0" y="256032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268833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Responses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944368"/>
            <a:ext cx="1545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remote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2592" y="2971800"/>
            <a:ext cx="548639" cy="0"/>
          </a:xfrm>
          <a:prstGeom prst="line">
            <a:avLst/>
          </a:prstGeom>
          <a:ln w="38100">
            <a:solidFill>
              <a:srgbClr val="A0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256032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68833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2944368"/>
            <a:ext cx="1545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generation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54312" y="2971800"/>
            <a:ext cx="548640" cy="0"/>
          </a:xfrm>
          <a:prstGeom prst="line">
            <a:avLst/>
          </a:prstGeom>
          <a:ln w="38100">
            <a:solidFill>
              <a:srgbClr val="F6B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66960" y="256032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68833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Typed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2944368"/>
            <a:ext cx="15453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output + usage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08760" y="3794760"/>
            <a:ext cx="9281160" cy="0"/>
          </a:xfrm>
          <a:prstGeom prst="line">
            <a:avLst/>
          </a:prstGeom>
          <a:ln w="19050">
            <a:solidFill>
              <a:srgbClr val="3A52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0" y="3977639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response / events / errors travel back through the same boundary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00600"/>
            <a:ext cx="10332720" cy="685800"/>
          </a:xfrm>
          <a:prstGeom prst="roundRect">
            <a:avLst/>
          </a:prstGeom>
          <a:solidFill>
            <a:srgbClr val="14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292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Application owns: task • schema • timeout budget • validation • side effects • logging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Secret hygiene is part of the API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3716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188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24328"/>
            <a:ext cx="1225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local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40280"/>
            <a:ext cx="164592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368296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62432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process 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240280"/>
            <a:ext cx="164592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368296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SDK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2" y="262432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reads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240280"/>
            <a:ext cx="141732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36829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624328"/>
            <a:ext cx="1271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authenticates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04288" y="2606040"/>
            <a:ext cx="896112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606040"/>
            <a:ext cx="914400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2606040"/>
            <a:ext cx="914400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4206240"/>
            <a:ext cx="10149840" cy="105156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4553712"/>
            <a:ext cx="123444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4617720"/>
            <a:ext cx="10881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.gitignore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59028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.env stays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59028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.env.example stays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59028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model stays configurable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FIRST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Minimal, explicit, inspectable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852160" cy="411480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client = OpenAI(timeout=20.0, max_retries=2)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31288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60040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response = client.responses.create(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88792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model=model,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17543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instructions="Be concise and concrete.",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146295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input=task,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575047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003799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432551"/>
            <a:ext cx="553212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print(response.output_text)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103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212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1FF"/>
                </a:solidFill>
                <a:latin typeface="Aptos"/>
              </a:rPr>
              <a:t>20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96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deadline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103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212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5DAB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96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bounded retries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246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355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7DFF"/>
                </a:solidFill>
                <a:latin typeface="Aptos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639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capability /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3355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6B948"/>
                </a:solidFill>
                <a:latin typeface="Aptos"/>
              </a:rPr>
              <a:t>instructions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639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stable task 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389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498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CD91"/>
                </a:solidFill>
                <a:latin typeface="Aptos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782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current work item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4389120"/>
            <a:ext cx="173736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49884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1FF"/>
                </a:solidFill>
                <a:latin typeface="Aptos"/>
              </a:rPr>
              <a:t>output_text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782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human-readable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REQUEST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Treat the request like a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37160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29967"/>
            <a:ext cx="1225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1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Does it support the feature and clear the quality bar?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52344"/>
            <a:ext cx="1371600" cy="347472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816351"/>
            <a:ext cx="1225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79775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What behavior should remain stable?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38727"/>
            <a:ext cx="1371600" cy="347472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02735"/>
            <a:ext cx="1225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566159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What task data changes per call?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25112"/>
            <a:ext cx="137160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389120"/>
            <a:ext cx="1225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352544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How long may the application wait?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111496"/>
            <a:ext cx="137160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75504"/>
            <a:ext cx="1225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RETRIES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138928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C"/>
                </a:solidFill>
                <a:latin typeface="Aptos"/>
              </a:rPr>
              <a:t>Which failures are safe and worth repeating?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1FF"/>
                </a:solidFill>
                <a:latin typeface="Aptos"/>
              </a:rPr>
              <a:t>Configuration, not mythology: </a:t>
            </a:r>
            <a:r>
              <a:rPr sz="1300" b="0">
                <a:solidFill>
                  <a:srgbClr val="F4F8FC"/>
                </a:solidFill>
                <a:latin typeface="Aptos"/>
              </a:rPr>
              <a:t>model names and provider defaults are volatile. Keep them outside business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RESPONSE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Leave evidence for tomorrow’s debugging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880360"/>
            <a:ext cx="164592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3008376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326440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typed 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5681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output_text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12848"/>
            <a:ext cx="16824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display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194560"/>
            <a:ext cx="2057400" cy="0"/>
          </a:xfrm>
          <a:prstGeom prst="line">
            <a:avLst/>
          </a:prstGeom>
          <a:ln w="25400">
            <a:solidFill>
              <a:srgbClr val="45D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02336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5137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output[]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16824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fine control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4389120"/>
            <a:ext cx="2057400" cy="0"/>
          </a:xfrm>
          <a:prstGeom prst="line">
            <a:avLst/>
          </a:prstGeom>
          <a:ln w="25400">
            <a:solidFill>
              <a:srgbClr val="A0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182880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95681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212848"/>
            <a:ext cx="16824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cost signal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46520" y="2194560"/>
            <a:ext cx="2606040" cy="0"/>
          </a:xfrm>
          <a:prstGeom prst="line">
            <a:avLst/>
          </a:prstGeom>
          <a:ln w="25400">
            <a:solidFill>
              <a:srgbClr val="F6B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402336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15137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_request_id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07408"/>
            <a:ext cx="16824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CD0"/>
                </a:solidFill>
                <a:latin typeface="Aptos"/>
              </a:rPr>
              <a:t>debug trail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4389120"/>
            <a:ext cx="2606040" cy="0"/>
          </a:xfrm>
          <a:prstGeom prst="line">
            <a:avLst/>
          </a:prstGeom>
          <a:ln w="25400">
            <a:solidFill>
              <a:srgbClr val="5BC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108960" y="5303520"/>
            <a:ext cx="5943600" cy="50292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5468112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Log metadata deliberately. Do not log secrets or sensitive prompt content by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The response becomes an event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200400"/>
            <a:ext cx="10058400" cy="0"/>
          </a:xfrm>
          <a:prstGeom prst="line">
            <a:avLst/>
          </a:prstGeom>
          <a:ln w="508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1560" y="2907792"/>
            <a:ext cx="566928" cy="566928"/>
          </a:xfrm>
          <a:prstGeom prst="ellipse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1488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request
created</a:t>
            </a:r>
          </a:p>
        </p:txBody>
      </p:sp>
      <p:sp>
        <p:nvSpPr>
          <p:cNvPr id="10" name="Oval 9"/>
          <p:cNvSpPr/>
          <p:nvPr/>
        </p:nvSpPr>
        <p:spPr>
          <a:xfrm>
            <a:off x="3246120" y="2907792"/>
            <a:ext cx="566928" cy="566928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1488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first
delta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2907792"/>
            <a:ext cx="566928" cy="566928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488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more
deltas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907792"/>
            <a:ext cx="566928" cy="566928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21488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more
deltas</a:t>
            </a:r>
          </a:p>
        </p:txBody>
      </p:sp>
      <p:sp>
        <p:nvSpPr>
          <p:cNvPr id="16" name="Oval 15"/>
          <p:cNvSpPr/>
          <p:nvPr/>
        </p:nvSpPr>
        <p:spPr>
          <a:xfrm>
            <a:off x="10104120" y="2907792"/>
            <a:ext cx="566928" cy="566928"/>
          </a:xfrm>
          <a:prstGeom prst="ellipse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488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572000"/>
            <a:ext cx="4480560" cy="6858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79145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5DABF"/>
                </a:solidFill>
                <a:latin typeface="Aptos"/>
              </a:rPr>
              <a:t>Improves: time to first visible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572000"/>
            <a:ext cx="4480560" cy="6858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27448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6B948"/>
                </a:solidFill>
                <a:latin typeface="Aptos"/>
              </a:rPr>
              <a:t>Does not guarantee: lower total time or fewer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STREAMING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Consume typed delta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583680" cy="411480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02536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stream = client.responses.create(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31288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    model=model,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0040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    input=task,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88792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stream=True,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717543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146295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575047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for event in stream: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3799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if event.type == "response.output_text.delta":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432551"/>
            <a:ext cx="6263640" cy="456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    print(event.delta, end="", flush=True)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057400"/>
            <a:ext cx="3429000" cy="11887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30428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5DABF"/>
                </a:solidFill>
                <a:latin typeface="Aptos"/>
              </a:rPr>
              <a:t>DISPLAY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4F8FC"/>
                </a:solidFill>
                <a:latin typeface="Aptos"/>
              </a:rPr>
              <a:t>Partial text can be shown.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703320"/>
            <a:ext cx="3429000" cy="13716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977639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B948"/>
                </a:solidFill>
                <a:latin typeface="Aptos"/>
              </a:rPr>
              <a:t>BUSINESS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315968"/>
            <a:ext cx="2971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4F8FC"/>
                </a:solidFill>
                <a:latin typeface="Aptos"/>
              </a:rPr>
              <a:t>Do not trigger side effects from an incomplete 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Two latency measures — do not mix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9784080" cy="47548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194560" cy="475488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4144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21F"/>
                </a:solidFill>
                <a:latin typeface="Aptos"/>
              </a:rPr>
              <a:t>TTFV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749039"/>
            <a:ext cx="9784080" cy="47548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749039"/>
            <a:ext cx="8412480" cy="475488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5876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21F"/>
                </a:solidFill>
                <a:latin typeface="Aptos"/>
              </a:rP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077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Time to first visible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077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ABCD0"/>
                </a:solidFill>
                <a:latin typeface="Aptos"/>
              </a:rPr>
              <a:t>Perceived responsiveness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2511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Total completion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32511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AABCD0"/>
                </a:solidFill>
                <a:latin typeface="Aptos"/>
              </a:rPr>
              <a:t>Workflow / batch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AUTOMATION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“Please return JSON” is still a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526280" cy="356616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EF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9456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6767"/>
                </a:solidFill>
                <a:latin typeface="Aptos"/>
              </a:rPr>
              <a:t>Prompt-only formatting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743200"/>
            <a:ext cx="3977639" cy="182880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2871216"/>
            <a:ext cx="3657599" cy="341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"Return JSON with category, priority..."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3185769"/>
            <a:ext cx="3657599" cy="341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3500323"/>
            <a:ext cx="3657599" cy="341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# downstream code hopes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1" y="3814876"/>
            <a:ext cx="3657599" cy="341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# every key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1" y="4129430"/>
            <a:ext cx="3657599" cy="341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# every value is valid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4828032"/>
            <a:ext cx="1645920" cy="347472"/>
          </a:xfrm>
          <a:prstGeom prst="roundRect">
            <a:avLst/>
          </a:prstGeom>
          <a:solidFill>
            <a:srgbClr val="E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4892040"/>
            <a:ext cx="1499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fragile parsing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3657600"/>
            <a:ext cx="731520" cy="0"/>
          </a:xfrm>
          <a:prstGeom prst="line">
            <a:avLst/>
          </a:prstGeom>
          <a:ln w="508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1920240"/>
            <a:ext cx="4526280" cy="356616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19456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CD91"/>
                </a:solidFill>
                <a:latin typeface="Aptos"/>
              </a:rPr>
              <a:t>Schema 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743200"/>
            <a:ext cx="3977639" cy="182880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2871216"/>
            <a:ext cx="3657599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category: Literal[...]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264408"/>
            <a:ext cx="3657599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priority: Literal[...]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657600"/>
            <a:ext cx="3657599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summary: max_length=160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4050791"/>
            <a:ext cx="3657599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needs_human_review: bool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828032"/>
            <a:ext cx="164592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4892040"/>
            <a:ext cx="1499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typed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Define the shape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6492240" cy="306324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93976"/>
            <a:ext cx="6172200" cy="588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class SupportTicket(BaseModel):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5417"/>
            <a:ext cx="6172200" cy="588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category: Literal["bug", "question", "feature"]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16859"/>
            <a:ext cx="6172200" cy="588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priority: Literal["low", "medium", "high"]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78300"/>
            <a:ext cx="6172200" cy="588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summary: str = Field(min_length=1, max_length=160)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39742"/>
            <a:ext cx="6172200" cy="588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    needs_human_review: bool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103120"/>
            <a:ext cx="324612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21284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CA1FF"/>
                </a:solidFill>
                <a:latin typeface="Aptos"/>
              </a:rPr>
              <a:t>ENUMS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12848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Aptos"/>
              </a:rPr>
              <a:t>constrain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154680"/>
            <a:ext cx="324612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26440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6B948"/>
                </a:solidFill>
                <a:latin typeface="Aptos"/>
              </a:rPr>
              <a:t>BOUNDS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64408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Aptos"/>
              </a:rPr>
              <a:t>limit shape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206240"/>
            <a:ext cx="3246120" cy="7315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3159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CD91"/>
                </a:solidFill>
                <a:latin typeface="Aptos"/>
              </a:rPr>
              <a:t>REVIEW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315968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Aptos"/>
              </a:rPr>
              <a:t>escape ambiguity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Unstructured input → typed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Ticket 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86584" y="3154680"/>
            <a:ext cx="475488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4320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87121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Model 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26864" y="3154680"/>
            <a:ext cx="475488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4320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87121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Schema constraint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67144" y="3154680"/>
            <a:ext cx="475488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4320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87121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Parsed object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07424" y="3154680"/>
            <a:ext cx="475488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43200"/>
            <a:ext cx="1691640" cy="8229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87121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App 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800600"/>
            <a:ext cx="7955279" cy="68580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502920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5DABF"/>
                </a:solidFill>
                <a:latin typeface="Aptos"/>
              </a:rPr>
              <a:t>Key shift: </a:t>
            </a:r>
            <a:r>
              <a:rPr sz="1400" b="0">
                <a:solidFill>
                  <a:srgbClr val="F4F8FC"/>
                </a:solidFill>
                <a:latin typeface="Aptos"/>
              </a:rPr>
              <a:t>downstream code reads fields, not prose conventions.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Schema-valid is not the same as correct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10058400" cy="356616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2606040"/>
            <a:ext cx="8321040" cy="242316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3200400"/>
            <a:ext cx="6583680" cy="128016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1762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A1FF"/>
                </a:solidFill>
                <a:latin typeface="Aptos"/>
              </a:rPr>
              <a:t>BUSINESS / ACTION 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CD0"/>
                </a:solidFill>
                <a:latin typeface="Aptos"/>
              </a:rPr>
              <a:t>safe to act?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706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948"/>
                </a:solidFill>
                <a:latin typeface="Aptos"/>
              </a:rPr>
              <a:t>SEMANTIC VALIDITY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7063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CD0"/>
                </a:solidFill>
                <a:latin typeface="Aptos"/>
              </a:rPr>
              <a:t>matches source?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4930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D91"/>
                </a:solidFill>
                <a:latin typeface="Aptos"/>
              </a:rPr>
              <a:t>SCHEMA VALIDITY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4930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4F8FC"/>
                </a:solidFill>
                <a:latin typeface="Aptos"/>
              </a:rPr>
              <a:t>fields / types / enums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AMBIGUITY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Design an explicit path to human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892040" cy="36118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CA1FF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8FC"/>
                </a:solidFill>
                <a:latin typeface="Aptos"/>
              </a:rPr>
              <a:t>“The CSV export changed. I’m not sure if this is intended or a bug. Finance needs it tomorrow.”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892040" cy="36118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CD91"/>
                </a:solidFill>
                <a:latin typeface="Aptos"/>
              </a:rPr>
              <a:t>Typed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743200"/>
            <a:ext cx="4160520" cy="1691640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871216"/>
            <a:ext cx="384048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category: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3230118"/>
            <a:ext cx="384048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priority: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3589020"/>
            <a:ext cx="384048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summary: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947922"/>
            <a:ext cx="3840480" cy="386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needs_human_review: true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709160"/>
            <a:ext cx="214884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4773168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uncertainty is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Different failures need different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98480" cy="475488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21F"/>
                </a:solidFill>
                <a:latin typeface="Aptos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84831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21F"/>
                </a:solidFill>
                <a:latin typeface="Aptos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84831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21F"/>
                </a:solidFill>
                <a:latin typeface="Aptos"/>
              </a:rPr>
              <a:t>APPLICATION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14600"/>
            <a:ext cx="10698480" cy="603504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42616"/>
            <a:ext cx="150876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70662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8833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deadline exceeded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88336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CD0"/>
                </a:solidFill>
                <a:latin typeface="Aptos"/>
              </a:rPr>
              <a:t>fail or bounded retry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10698480" cy="603504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328416"/>
            <a:ext cx="150876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39242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7413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network path failed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74136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CD0"/>
                </a:solidFill>
                <a:latin typeface="Aptos"/>
              </a:rPr>
              <a:t>retry only if policy allows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86200"/>
            <a:ext cx="10698480" cy="603504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014215"/>
            <a:ext cx="1508760" cy="347472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07822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Rate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05993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capacity / quota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59936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CD0"/>
                </a:solidFill>
                <a:latin typeface="Aptos"/>
              </a:rPr>
              <a:t>back off / reduce concurrency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72000"/>
            <a:ext cx="10698480" cy="603504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4700016"/>
            <a:ext cx="1508760" cy="347472"/>
          </a:xfrm>
          <a:prstGeom prst="roundRect">
            <a:avLst/>
          </a:prstGeom>
          <a:solidFill>
            <a:srgbClr val="E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76402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4xx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74573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request invalid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45736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CD0"/>
                </a:solidFill>
                <a:latin typeface="Aptos"/>
              </a:rPr>
              <a:t>fix; do not repeat blindly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257800"/>
            <a:ext cx="10698480" cy="603504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5385816"/>
            <a:ext cx="150876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5449824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43153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4F8FC"/>
                </a:solidFill>
                <a:latin typeface="Aptos"/>
              </a:rPr>
              <a:t>content rejected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431536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CD0"/>
                </a:solidFill>
                <a:latin typeface="Aptos"/>
              </a:rPr>
              <a:t>reject / review / repair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Retry is a budgeted decision, not a reflex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4261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Attempt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1460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64261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Transient?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51460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64261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Budget left?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51460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64261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Attempt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2880360"/>
            <a:ext cx="896112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01768" y="2880360"/>
            <a:ext cx="896112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16368" y="2880360"/>
            <a:ext cx="896112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35440" y="3310128"/>
            <a:ext cx="0" cy="941832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51960" y="4251960"/>
            <a:ext cx="4983480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51960" y="3337560"/>
            <a:ext cx="0" cy="91440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44348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bounded 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0012680" cy="50292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39512"/>
            <a:ext cx="9646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F6767"/>
                </a:solidFill>
                <a:latin typeface="Aptos"/>
              </a:rPr>
              <a:t>Never retry an invalid request just because “AI calls are flaky.”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Every meaningful call should leave an envelope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417320" cy="65836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3113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03120"/>
            <a:ext cx="1600200" cy="65836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23113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Request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103120"/>
            <a:ext cx="1417320" cy="65836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79" y="223113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103120"/>
            <a:ext cx="1417320" cy="65836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3113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03120"/>
            <a:ext cx="1554480" cy="658368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23113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Outcome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2432304"/>
            <a:ext cx="43891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07408" y="2432304"/>
            <a:ext cx="43891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27648" y="2432304"/>
            <a:ext cx="43891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47888" y="2432304"/>
            <a:ext cx="438912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3794760"/>
            <a:ext cx="8503920" cy="10972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4133087"/>
            <a:ext cx="8046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8FC"/>
                </a:solidFill>
                <a:latin typeface="Aptos Mono"/>
              </a:rPr>
              <a:t>correlation_id  •  model  •  provider_request_id  •  elapsed_ms  •  usage  • 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138928"/>
            <a:ext cx="7863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Metadata for operation. Sensitive payload logging is a separate policy decision.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USAGE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Measure the levers — do not memorize a price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2286000" cy="23317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1FF"/>
                </a:solidFill>
                <a:latin typeface="Aptos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063240"/>
            <a:ext cx="173736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063240"/>
            <a:ext cx="502920" cy="201168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03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prompt +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2286000" cy="23317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4688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5DABF"/>
                </a:solidFill>
                <a:latin typeface="Aptos"/>
              </a:rPr>
              <a:t>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063240"/>
            <a:ext cx="173736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3063240"/>
            <a:ext cx="822960" cy="201168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703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generated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94560"/>
            <a:ext cx="2286000" cy="23317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7DFF"/>
                </a:solidFill>
                <a:latin typeface="Aptos"/>
              </a:rPr>
              <a:t>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063240"/>
            <a:ext cx="173736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3063240"/>
            <a:ext cx="1143000" cy="201168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quality / price tier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194560"/>
            <a:ext cx="2286000" cy="233172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B948"/>
                </a:solidFill>
                <a:latin typeface="Aptos"/>
              </a:rPr>
              <a:t>LATENCY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063240"/>
            <a:ext cx="173736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3063240"/>
            <a:ext cx="1463039" cy="201168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703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response budget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5120640"/>
            <a:ext cx="9326880" cy="50292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28523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Durable rule: lowest-cost model that reliably clears the measured quality bar.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MODEL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Capability support first, quality/cost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CD0"/>
                </a:solidFill>
                <a:latin typeface="Aptos"/>
              </a:rPr>
              <a:t>Provider lineup is a delivery-day fact. Re-check before 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4983480"/>
            <a:ext cx="8686800" cy="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828800" y="1965960"/>
            <a:ext cx="0" cy="301752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0" y="52120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CD0"/>
                </a:solidFill>
                <a:latin typeface="Aptos"/>
              </a:rPr>
              <a:t>higher cost / capability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CD0"/>
                </a:solidFill>
                <a:latin typeface="Aptos"/>
              </a:rPr>
              <a:t>task difficulty ↑</a:t>
            </a:r>
          </a:p>
        </p:txBody>
      </p:sp>
      <p:sp>
        <p:nvSpPr>
          <p:cNvPr id="12" name="Oval 11"/>
          <p:cNvSpPr/>
          <p:nvPr/>
        </p:nvSpPr>
        <p:spPr>
          <a:xfrm>
            <a:off x="3017520" y="4251960"/>
            <a:ext cx="566928" cy="566928"/>
          </a:xfrm>
          <a:prstGeom prst="ellipse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38679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BCD91"/>
                </a:solidFill>
                <a:latin typeface="Aptos"/>
              </a:rPr>
              <a:t>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49377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CD0"/>
                </a:solidFill>
                <a:latin typeface="Aptos"/>
              </a:rPr>
              <a:t>volume / cost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3566160"/>
            <a:ext cx="566928" cy="566928"/>
          </a:xfrm>
          <a:prstGeom prst="ellipse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1821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CA1FF"/>
                </a:solidFill>
                <a:latin typeface="Aptos"/>
              </a:rPr>
              <a:t>Terra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2519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CD0"/>
                </a:solidFill>
                <a:latin typeface="Aptos"/>
              </a:rPr>
              <a:t>balanced default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2926080"/>
            <a:ext cx="566928" cy="566928"/>
          </a:xfrm>
          <a:prstGeom prst="ellipse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5420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07DFF"/>
                </a:solidFill>
                <a:latin typeface="Aptos"/>
              </a:rPr>
              <a:t>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6118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CD0"/>
                </a:solidFill>
                <a:latin typeface="Aptos"/>
              </a:rPr>
              <a:t>harder work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2331720"/>
            <a:ext cx="566928" cy="566928"/>
          </a:xfrm>
          <a:prstGeom prst="ellipse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9476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B948"/>
                </a:solidFill>
                <a:latin typeface="Aptos"/>
              </a:rPr>
              <a:t>Astra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0175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CD0"/>
                </a:solidFill>
                <a:latin typeface="Aptos"/>
              </a:rPr>
              <a:t>highest tier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PRODUCTION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Seven checks before a side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438912" cy="438912"/>
          </a:xfrm>
          <a:prstGeom prst="ellipse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92807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Secret/config loaded outside source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95728"/>
            <a:ext cx="438912" cy="438912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59736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Input accepted for this task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962656"/>
            <a:ext cx="438912" cy="438912"/>
          </a:xfrm>
          <a:prstGeom prst="ellipse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26664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Compatible model selected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29584"/>
            <a:ext cx="438912" cy="438912"/>
          </a:xfrm>
          <a:prstGeom prst="ellipse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30168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93592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Response mode fits consumer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096512"/>
            <a:ext cx="438912" cy="438912"/>
          </a:xfrm>
          <a:prstGeom prst="ellipse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9709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Schema + semantic + business validation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663440"/>
            <a:ext cx="438912" cy="438912"/>
          </a:xfrm>
          <a:prstGeom prst="ellipse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6402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27448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Request evidence recorded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30368"/>
            <a:ext cx="438912" cy="438912"/>
          </a:xfrm>
          <a:prstGeom prst="ellipse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30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121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294376"/>
            <a:ext cx="8961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Only then: display / store / 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One ticket, four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2240280" cy="20574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450592"/>
            <a:ext cx="50292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14600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C"/>
                </a:solidFill>
                <a:latin typeface="Aptos"/>
              </a:rPr>
              <a:t>plain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output + request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72384" y="3246120"/>
            <a:ext cx="448056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79" y="2240280"/>
            <a:ext cx="2240280" cy="20574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2450592"/>
            <a:ext cx="502920" cy="347472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2514600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9718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C"/>
                </a:solidFill>
                <a:latin typeface="Aptos"/>
              </a:rPr>
              <a:t>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4564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delta events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1304" y="3246120"/>
            <a:ext cx="448056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2240280"/>
            <a:ext cx="2240280" cy="20574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2450592"/>
            <a:ext cx="502920" cy="347472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514600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718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C"/>
                </a:solidFill>
                <a:latin typeface="Aptos"/>
              </a:rPr>
              <a:t>structured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564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typed ticket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50224" y="3246120"/>
            <a:ext cx="448056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89719" y="2240280"/>
            <a:ext cx="2240280" cy="205740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450592"/>
            <a:ext cx="50292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514600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718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C"/>
                </a:solidFill>
                <a:latin typeface="Aptos"/>
              </a:rPr>
              <a:t>observe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34564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CD0"/>
                </a:solidFill>
                <a:latin typeface="Aptos"/>
              </a:rPr>
              <a:t>errors + telemetry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4937760"/>
            <a:ext cx="7909560" cy="59436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129784"/>
            <a:ext cx="7452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8FC"/>
                </a:solidFill>
                <a:latin typeface="Aptos"/>
              </a:rPr>
              <a:t>Success = students can explain the contract. Live provider output is optional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DEMO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Provider unavailable? Keep teaching.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Live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60320"/>
            <a:ext cx="155448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68833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Works?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82880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95681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Continue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65760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785615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Use fixtures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743200"/>
            <a:ext cx="1828800" cy="731520"/>
          </a:xfrm>
          <a:prstGeom prst="roundRect">
            <a:avLst/>
          </a:prstGeom>
          <a:solidFill>
            <a:srgbClr val="1C324B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871216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Teach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7168" y="2926080"/>
            <a:ext cx="896112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001768" y="2194560"/>
            <a:ext cx="896112" cy="548640"/>
          </a:xfrm>
          <a:prstGeom prst="line">
            <a:avLst/>
          </a:prstGeom>
          <a:ln w="38100">
            <a:solidFill>
              <a:srgbClr val="5BC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01768" y="3108960"/>
            <a:ext cx="896112" cy="914400"/>
          </a:xfrm>
          <a:prstGeom prst="line">
            <a:avLst/>
          </a:prstGeom>
          <a:ln w="38100">
            <a:solidFill>
              <a:srgbClr val="45D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90688" y="2194560"/>
            <a:ext cx="1307592" cy="77724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790688" y="3246120"/>
            <a:ext cx="1307592" cy="777240"/>
          </a:xfrm>
          <a:prstGeom prst="line">
            <a:avLst/>
          </a:prstGeom>
          <a:ln w="254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65960" y="4892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6767"/>
                </a:solidFill>
                <a:latin typeface="Aptos"/>
              </a:rPr>
              <a:t>2-minute troubleshooting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892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CD0"/>
                </a:solidFill>
                <a:latin typeface="Aptos"/>
              </a:rPr>
              <a:t>No live credential surgery on screen share.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Build a typed intake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657600" cy="36118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1FF"/>
                </a:solidFill>
                <a:latin typeface="Aptos"/>
              </a:rPr>
              <a:t>YOUR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bug report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product feedback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event request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service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3657600"/>
            <a:ext cx="822960" cy="0"/>
          </a:xfrm>
          <a:prstGeom prst="line">
            <a:avLst/>
          </a:prstGeom>
          <a:ln w="508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1874519"/>
            <a:ext cx="5486400" cy="36118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94560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CD91"/>
                </a:solidFill>
                <a:latin typeface="Aptos"/>
              </a:rPr>
              <a:t>YOUR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4480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1 enum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1 bounded text field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needs_human_review: bool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clear + ambiguous example</a:t>
            </a:r>
          </a:p>
          <a:p>
            <a:pPr>
              <a:spcAft>
                <a:spcPts val="500"/>
              </a:spcAft>
              <a:defRPr sz="1400">
                <a:solidFill>
                  <a:srgbClr val="F4F8FC"/>
                </a:solidFill>
                <a:latin typeface="Aptos"/>
              </a:defRPr>
            </a:pPr>
            <a:r>
              <a:t>•  local validation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WORKSHOP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A repository a teammate can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0" cy="3977639"/>
          </a:xfrm>
          <a:prstGeom prst="roundRect">
            <a:avLst/>
          </a:prstGeom>
          <a:solidFill>
            <a:srgbClr val="0A1827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56816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student-router/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70328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├── contracts.py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83840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├── classify.py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97352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F4F8FC"/>
                </a:solidFill>
                <a:latin typeface="Aptos Mono"/>
              </a:rPr>
              <a:t>├── examples/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610864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│   ├── clear.txt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024376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│   └── ambiguous.txt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437888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├── tests/test_contract.py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851400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├── 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264911"/>
            <a:ext cx="4251960" cy="440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5DABF"/>
                </a:solidFill>
                <a:latin typeface="Aptos Mono"/>
              </a:rPr>
              <a:t>└── EVIDENCE.md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65960"/>
            <a:ext cx="4572000" cy="3611880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Review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3886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ABCD0"/>
                </a:solidFill>
                <a:latin typeface="Aptos"/>
              </a:defRPr>
            </a:pPr>
            <a:r>
              <a:t>•  What will consume this object?</a:t>
            </a:r>
          </a:p>
          <a:p>
            <a:pPr>
              <a:spcAft>
                <a:spcPts val="500"/>
              </a:spcAft>
              <a:defRPr sz="1300">
                <a:solidFill>
                  <a:srgbClr val="AABCD0"/>
                </a:solidFill>
                <a:latin typeface="Aptos"/>
              </a:defRPr>
            </a:pPr>
            <a:r>
              <a:t>•  What ambiguity forces review?</a:t>
            </a:r>
          </a:p>
          <a:p>
            <a:pPr>
              <a:spcAft>
                <a:spcPts val="500"/>
              </a:spcAft>
              <a:defRPr sz="1300">
                <a:solidFill>
                  <a:srgbClr val="AABCD0"/>
                </a:solidFill>
                <a:latin typeface="Aptos"/>
              </a:defRPr>
            </a:pPr>
            <a:r>
              <a:t>•  Which rules are deterministic?</a:t>
            </a:r>
          </a:p>
          <a:p>
            <a:pPr>
              <a:spcAft>
                <a:spcPts val="500"/>
              </a:spcAft>
              <a:defRPr sz="1300">
                <a:solidFill>
                  <a:srgbClr val="AABCD0"/>
                </a:solidFill>
                <a:latin typeface="Aptos"/>
              </a:defRPr>
            </a:pPr>
            <a:r>
              <a:t>•  What evidence exists after failure?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PRACTICE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10-point rubric rewards engineering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011679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011679"/>
            <a:ext cx="6858000" cy="201168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965960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4CA1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1176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Ambiguity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596896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2596896"/>
            <a:ext cx="6858000" cy="201168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551176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45DAB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363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Local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182112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20" y="3182112"/>
            <a:ext cx="6858000" cy="201168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3136392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A07D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216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API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767328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0" y="3767328"/>
            <a:ext cx="6858000" cy="201168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372160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6B948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0682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Telemetry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352544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17520" y="4352544"/>
            <a:ext cx="3429000" cy="201168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4306824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5BCD91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Explanation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937759"/>
            <a:ext cx="6858000" cy="201168"/>
          </a:xfrm>
          <a:prstGeom prst="roundRect">
            <a:avLst/>
          </a:prstGeom>
          <a:solidFill>
            <a:srgbClr val="1C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0" y="4937759"/>
            <a:ext cx="3429000" cy="201168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4892040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4CA1FF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5577840"/>
            <a:ext cx="8321040" cy="45720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5715000"/>
            <a:ext cx="7863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A chatbot demo is not the goal. A reviewable boundary 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Extend the boundary, not the feature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" cy="347472"/>
          </a:xfrm>
          <a:prstGeom prst="roundRect">
            <a:avLst/>
          </a:prstGeom>
          <a:solidFill>
            <a:srgbClr val="4C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92807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74519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3 local contract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502920" cy="347472"/>
          </a:xfrm>
          <a:prstGeom prst="roundRect">
            <a:avLst/>
          </a:prstGeom>
          <a:solidFill>
            <a:srgbClr val="45D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24327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06039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1 business validation outside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39"/>
            <a:ext cx="502920" cy="347472"/>
          </a:xfrm>
          <a:prstGeom prst="roundRect">
            <a:avLst/>
          </a:prstGeom>
          <a:solidFill>
            <a:srgbClr val="A0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355847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37559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telemetry sample: model / id / latency /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59"/>
            <a:ext cx="502920" cy="347472"/>
          </a:xfrm>
          <a:prstGeom prst="roundRect">
            <a:avLst/>
          </a:prstGeom>
          <a:solidFill>
            <a:srgbClr val="F6B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87368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069079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100–150 words: schema ≠ semantic ≠ business validity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54879"/>
            <a:ext cx="50292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18888"/>
            <a:ext cx="356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00599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optional separate stream for human explanation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90-MINUTE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Compress discussion — not the core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946912" cy="658368"/>
          </a:xfrm>
          <a:prstGeom prst="roundRect">
            <a:avLst/>
          </a:prstGeom>
          <a:solidFill>
            <a:srgbClr val="4CA1F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907792"/>
            <a:ext cx="892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4152" y="2743200"/>
            <a:ext cx="1420368" cy="658368"/>
          </a:xfrm>
          <a:prstGeom prst="roundRect">
            <a:avLst/>
          </a:prstGeom>
          <a:solidFill>
            <a:srgbClr val="45DAB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1584" y="2907792"/>
            <a:ext cx="13655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First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4520" y="2743200"/>
            <a:ext cx="1302004" cy="658368"/>
          </a:xfrm>
          <a:prstGeom prst="roundRect">
            <a:avLst/>
          </a:prstGeom>
          <a:solidFill>
            <a:srgbClr val="A07DF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1952" y="2907792"/>
            <a:ext cx="12471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6524" y="2743200"/>
            <a:ext cx="1302004" cy="658368"/>
          </a:xfrm>
          <a:prstGeom prst="roundRect">
            <a:avLst/>
          </a:prstGeom>
          <a:solidFill>
            <a:srgbClr val="F6B948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956" y="2907792"/>
            <a:ext cx="12471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Streaming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8528" y="2743200"/>
            <a:ext cx="2367280" cy="658368"/>
          </a:xfrm>
          <a:prstGeom prst="roundRect">
            <a:avLst/>
          </a:prstGeom>
          <a:solidFill>
            <a:srgbClr val="5BCD91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5960" y="2907792"/>
            <a:ext cx="2312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808" y="2743200"/>
            <a:ext cx="1420368" cy="658368"/>
          </a:xfrm>
          <a:prstGeom prst="roundRect">
            <a:avLst/>
          </a:prstGeom>
          <a:solidFill>
            <a:srgbClr val="EF6767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3239" y="2907792"/>
            <a:ext cx="13655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Failures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6176" y="2743200"/>
            <a:ext cx="710184" cy="658368"/>
          </a:xfrm>
          <a:prstGeom prst="roundRect">
            <a:avLst/>
          </a:prstGeom>
          <a:solidFill>
            <a:srgbClr val="4CA1F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3607" y="2907792"/>
            <a:ext cx="655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6360" y="2743200"/>
            <a:ext cx="828548" cy="658368"/>
          </a:xfrm>
          <a:prstGeom prst="roundRect">
            <a:avLst/>
          </a:prstGeom>
          <a:solidFill>
            <a:srgbClr val="45DAB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73792" y="2907792"/>
            <a:ext cx="77368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Workshop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74908" y="2743200"/>
            <a:ext cx="355092" cy="658368"/>
          </a:xfrm>
          <a:prstGeom prst="roundRect">
            <a:avLst/>
          </a:prstGeom>
          <a:solidFill>
            <a:srgbClr val="A07DFF"/>
          </a:solidFill>
          <a:ln w="12700">
            <a:solidFill>
              <a:srgbClr val="08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2340" y="2907792"/>
            <a:ext cx="3002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8121F"/>
                </a:solidFill>
                <a:latin typeface="Aptos"/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069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BCD91"/>
                </a:solidFill>
                <a:latin typeface="Aptos"/>
              </a:rPr>
              <a:t>Keep: </a:t>
            </a:r>
            <a:r>
              <a:rPr sz="1300" b="0">
                <a:solidFill>
                  <a:srgbClr val="F4F8FC"/>
                </a:solidFill>
                <a:latin typeface="Aptos"/>
              </a:rPr>
              <a:t>structured output + validation layers + failure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6B948"/>
                </a:solidFill>
                <a:latin typeface="Aptos"/>
              </a:rPr>
              <a:t>Move: </a:t>
            </a:r>
            <a:r>
              <a:rPr sz="1300" b="0">
                <a:solidFill>
                  <a:srgbClr val="F4F8FC"/>
                </a:solidFill>
                <a:latin typeface="Aptos"/>
              </a:rPr>
              <a:t>detailed error scenarios and full tests to homework.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A1FF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One pattern survives model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881360" cy="10972"/>
          </a:xfrm>
          <a:prstGeom prst="rect">
            <a:avLst/>
          </a:prstGeom>
          <a:solidFill>
            <a:srgbClr val="3A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ABCD0"/>
                </a:solidFill>
                <a:latin typeface="Aptos"/>
              </a:rPr>
              <a:t>GENAI BASICS  /  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5624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AABCD0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1828800" cy="749808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C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249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CA1FF"/>
                </a:solidFill>
                <a:latin typeface="Aptos"/>
              </a:rPr>
              <a:t>SECRET + CONFIG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843784"/>
            <a:ext cx="283464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468880"/>
            <a:ext cx="1828800" cy="749808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45D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7249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5DABF"/>
                </a:solidFill>
                <a:latin typeface="Aptos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843784"/>
            <a:ext cx="283464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468880"/>
            <a:ext cx="1828800" cy="749808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A0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27249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7DFF"/>
                </a:solidFill>
                <a:latin typeface="Aptos"/>
              </a:rPr>
              <a:t>STREAM / 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22008" y="2843784"/>
            <a:ext cx="283464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2468880"/>
            <a:ext cx="1828800" cy="749808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F6B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249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6B948"/>
                </a:solidFill>
                <a:latin typeface="Aptos"/>
              </a:rPr>
              <a:t>VALIDATE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16568" y="2843784"/>
            <a:ext cx="283464" cy="0"/>
          </a:xfrm>
          <a:prstGeom prst="line">
            <a:avLst/>
          </a:prstGeom>
          <a:ln w="38100">
            <a:solidFill>
              <a:srgbClr val="3A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64040" y="2468880"/>
            <a:ext cx="1828800" cy="749808"/>
          </a:xfrm>
          <a:prstGeom prst="roundRect">
            <a:avLst/>
          </a:prstGeom>
          <a:solidFill>
            <a:srgbClr val="14273D"/>
          </a:solidFill>
          <a:ln w="12700">
            <a:solidFill>
              <a:srgbClr val="5B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7249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BCD91"/>
                </a:solidFill>
                <a:latin typeface="Aptos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251960"/>
            <a:ext cx="9418320" cy="731520"/>
          </a:xfrm>
          <a:prstGeom prst="roundRect">
            <a:avLst/>
          </a:prstGeom>
          <a:solidFill>
            <a:srgbClr val="0E1F33"/>
          </a:solidFill>
          <a:ln w="12700">
            <a:solidFill>
              <a:srgbClr val="3A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480560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8FC"/>
                </a:solidFill>
                <a:latin typeface="Aptos"/>
              </a:rPr>
              <a:t>Probabilistic model output becomes useful software only after the boundary is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34924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CD0"/>
                </a:solidFill>
                <a:latin typeface="Aptos"/>
              </a:rPr>
              <a:t>Next: Image Generation and Editing APIs — same API habits, different modality.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